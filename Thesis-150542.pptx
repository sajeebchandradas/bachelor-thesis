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7" r:id="rId1"/>
  </p:sldMasterIdLst>
  <p:notesMasterIdLst>
    <p:notesMasterId r:id="rId37"/>
  </p:notesMasterIdLst>
  <p:sldIdLst>
    <p:sldId id="256" r:id="rId2"/>
    <p:sldId id="257" r:id="rId3"/>
    <p:sldId id="258" r:id="rId4"/>
    <p:sldId id="289" r:id="rId5"/>
    <p:sldId id="290" r:id="rId6"/>
    <p:sldId id="286" r:id="rId7"/>
    <p:sldId id="259" r:id="rId8"/>
    <p:sldId id="291" r:id="rId9"/>
    <p:sldId id="260" r:id="rId10"/>
    <p:sldId id="293" r:id="rId11"/>
    <p:sldId id="294" r:id="rId12"/>
    <p:sldId id="295" r:id="rId13"/>
    <p:sldId id="296" r:id="rId14"/>
    <p:sldId id="306" r:id="rId15"/>
    <p:sldId id="297" r:id="rId16"/>
    <p:sldId id="298" r:id="rId17"/>
    <p:sldId id="307" r:id="rId18"/>
    <p:sldId id="299" r:id="rId19"/>
    <p:sldId id="300" r:id="rId20"/>
    <p:sldId id="308" r:id="rId21"/>
    <p:sldId id="261" r:id="rId22"/>
    <p:sldId id="282" r:id="rId23"/>
    <p:sldId id="310" r:id="rId24"/>
    <p:sldId id="301" r:id="rId25"/>
    <p:sldId id="302" r:id="rId26"/>
    <p:sldId id="311" r:id="rId27"/>
    <p:sldId id="285" r:id="rId28"/>
    <p:sldId id="268" r:id="rId29"/>
    <p:sldId id="303" r:id="rId30"/>
    <p:sldId id="304" r:id="rId31"/>
    <p:sldId id="269" r:id="rId32"/>
    <p:sldId id="305" r:id="rId33"/>
    <p:sldId id="287" r:id="rId34"/>
    <p:sldId id="309" r:id="rId35"/>
    <p:sldId id="271" r:id="rId3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13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8" y="72"/>
      </p:cViewPr>
      <p:guideLst>
        <p:guide orient="horz" pos="2112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ACB4A-BD57-43E1-AF5E-3E5D456E0B3C}" type="datetimeFigureOut">
              <a:rPr lang="en-US" smtClean="0"/>
              <a:pPr/>
              <a:t>4/24/2022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83E93-E155-42C5-A88D-B57C048E108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3E93-E155-42C5-A88D-B57C048E108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3E93-E155-42C5-A88D-B57C048E108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83E93-E155-42C5-A88D-B57C048E108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19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83E93-E155-42C5-A88D-B57C048E108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9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83E93-E155-42C5-A88D-B57C048E108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2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1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E0C9-65A1-43D1-91C2-FF80D2095F1B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74E1-93DA-49CF-83AA-0AD38A5E210B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8B51-D5EA-42A4-AF59-784B5930E5B3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05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2" y="1845734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E8A4-49CC-4A29-BDF6-BADF535DA964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7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4B8-48C1-4AA0-8776-8FDE5321F794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7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274E-FDB3-4EA0-8D19-D9135F443A64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D8F6-3AAB-440E-B8EC-43B30DBF0E09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11A97E33-300D-4D22-BF20-90B72F3A59C6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8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5" y="5074920"/>
            <a:ext cx="10111011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4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9F00-2A3A-462F-B9FD-6B87FB88D61A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6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DDDA-215D-4D6A-801F-075D718AFCDE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9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2302"/>
            <a:ext cx="262821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2302"/>
            <a:ext cx="7732286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D757-0FB5-4508-8681-8868D4CEC3B9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0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10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DFF315-A13C-4A98-B733-6C151061B48C}" type="datetime1">
              <a:rPr lang="en-US" smtClean="0"/>
              <a:pPr/>
              <a:t>4/24/2022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28-30 November,2019, IEEE Conference on Biomedical, Computer and Information Technology for Health (BECITHCON 2019), Dhaka, Bangladesh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179BDF8-8300-4086-A4D1-E9D9DF2D84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50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dt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7824" y="64741"/>
            <a:ext cx="1143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of Different Shaped Planar Antennas with DGS for Handheld </a:t>
            </a:r>
          </a:p>
          <a:p>
            <a:pPr algn="ct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12" y="3936432"/>
            <a:ext cx="4495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u="sng" kern="15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Submitted by</a:t>
            </a:r>
            <a:r>
              <a:rPr lang="en-US" b="1" kern="15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: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Sajeeb Chandra Das</a:t>
            </a:r>
            <a:endParaRPr lang="en-US" b="1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Roll No.  : 150542</a:t>
            </a:r>
            <a:endParaRPr lang="en-US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Reg. No. : 1054179</a:t>
            </a:r>
            <a:endParaRPr lang="en-US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Dept. of Electrical, Electronic, and Communication Engineering,</a:t>
            </a:r>
            <a:endParaRPr lang="en-US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 University of Science and Technology. 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589" y="6237910"/>
            <a:ext cx="12188825" cy="68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kern="15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 Pabna University of Science and Technology, </a:t>
            </a: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-1588" y="-76200"/>
            <a:ext cx="12188825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5E54CE-6375-4D04-9614-B3AD9A9B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839" y="2068474"/>
            <a:ext cx="1367145" cy="1519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5688E4-2D80-41EE-A740-67FB46C7452F}"/>
              </a:ext>
            </a:extLst>
          </p:cNvPr>
          <p:cNvSpPr txBox="1"/>
          <p:nvPr/>
        </p:nvSpPr>
        <p:spPr>
          <a:xfrm>
            <a:off x="7466012" y="3936432"/>
            <a:ext cx="449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5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Thesis Supervisor</a:t>
            </a:r>
            <a:r>
              <a:rPr lang="en-US" sz="1800" b="1" kern="15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: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Liton Chandra Paul</a:t>
            </a:r>
            <a:endParaRPr lang="en-US" sz="1800" b="1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Assistant Professor</a:t>
            </a:r>
            <a:endParaRPr lang="en-US" sz="1800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Dept. of Electrical, Electronic, and Communication Engineering,</a:t>
            </a:r>
            <a:endParaRPr lang="en-US" sz="1800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Technology.</a:t>
            </a:r>
            <a:endParaRPr lang="en-US" sz="1800" kern="150" dirty="0">
              <a:effectLst/>
              <a:latin typeface="Liberation Serif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6396" y="6858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98912" y="44271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2812" y="1055132"/>
            <a:ext cx="11016016" cy="52014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antenna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planar microstrip antennas are most popular for handheld communications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and motivation.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Antenna design procedures.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concept of performance parameters.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of frequency bands for different countries and regions.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of different shaped planar antennas.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Parametric study of simulation results.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 of the research.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for future work.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Appendix.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20977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8353" y="531436"/>
            <a:ext cx="5240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898" y="1605402"/>
            <a:ext cx="11063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Parametric Study of Different Shaped Planar Antennas with DGS for Handheld Wireless Communication.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4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Planar antennas | Semantic Scholar">
            <a:extLst>
              <a:ext uri="{FF2B5EF4-FFF2-40B4-BE49-F238E27FC236}">
                <a16:creationId xmlns:a16="http://schemas.microsoft.com/office/drawing/2014/main" id="{EFECB964-E888-4BB6-8B9C-94F4831447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 bwMode="auto">
          <a:xfrm>
            <a:off x="4726965" y="3372296"/>
            <a:ext cx="2723515" cy="2600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44D891-5E40-477B-A16F-F8E57183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5537" y="6248400"/>
            <a:ext cx="10677749" cy="576511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B8A94-F836-40FD-9143-D576E6C0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B7394-728C-4E89-BD24-BAAB3472960F}"/>
              </a:ext>
            </a:extLst>
          </p:cNvPr>
          <p:cNvSpPr txBox="1"/>
          <p:nvPr/>
        </p:nvSpPr>
        <p:spPr>
          <a:xfrm>
            <a:off x="1903033" y="327447"/>
            <a:ext cx="83827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What is Antenna ?</a:t>
            </a:r>
            <a:endParaRPr lang="en-US" sz="40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552CB-F2A3-4F8C-8CF4-538D648A5F82}"/>
              </a:ext>
            </a:extLst>
          </p:cNvPr>
          <p:cNvSpPr txBox="1"/>
          <p:nvPr/>
        </p:nvSpPr>
        <p:spPr>
          <a:xfrm>
            <a:off x="2436622" y="1358510"/>
            <a:ext cx="7315577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Metallic Device.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Capture and transmit electromagnetic waves.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Used in both transmitter and receiver.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Type: </a:t>
            </a:r>
            <a:r>
              <a:rPr lang="pt-BR" sz="2000" dirty="0"/>
              <a:t>Wire Antennas, Aperture Antennas, Microstrip Antennas, Array Antennas, Reflector antennas, Lens Antennas.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F5CB7-8D6D-403B-A29A-6CB4BA599D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42"/>
          <a:stretch/>
        </p:blipFill>
        <p:spPr>
          <a:xfrm>
            <a:off x="3236910" y="3916126"/>
            <a:ext cx="5715000" cy="210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6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FD2EAB-6861-4407-AEF0-C5E7B8DE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74736" y="6370637"/>
            <a:ext cx="9001351" cy="365125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71547-2073-42FF-BD3A-2C7E11CF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246C8-8017-41B3-83FB-30F0E66FBF53}"/>
              </a:ext>
            </a:extLst>
          </p:cNvPr>
          <p:cNvSpPr txBox="1"/>
          <p:nvPr/>
        </p:nvSpPr>
        <p:spPr>
          <a:xfrm>
            <a:off x="2055812" y="304800"/>
            <a:ext cx="8839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Planar Microstrip Antennas are Most Popular for Handheld Communications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E8F53-9EFB-4CF7-87AB-3524D9D16E75}"/>
              </a:ext>
            </a:extLst>
          </p:cNvPr>
          <p:cNvSpPr txBox="1"/>
          <p:nvPr/>
        </p:nvSpPr>
        <p:spPr>
          <a:xfrm>
            <a:off x="1065212" y="1905000"/>
            <a:ext cx="10144351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Light weight.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Low volume.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Low fabrication cost.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Easy to implement.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Efficient radiator.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Conformal to both planar and non-planar surfaces.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Robust and well compatible for handheld devices.</a:t>
            </a:r>
          </a:p>
        </p:txBody>
      </p:sp>
    </p:spTree>
    <p:extLst>
      <p:ext uri="{BB962C8B-B14F-4D97-AF65-F5344CB8AC3E}">
        <p14:creationId xmlns:p14="http://schemas.microsoft.com/office/powerpoint/2010/main" val="17231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7312" y="304800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3312" y="1545344"/>
            <a:ext cx="9982200" cy="4094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Wireless communication has brought the technological revolution in 21</a:t>
            </a:r>
            <a:r>
              <a:rPr lang="en-US" sz="22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century.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igher data rate, wider coverage, ultra-low latency and massive connectivity.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Planar microstrip patch antenna.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ifferent shaped radiator and DGS method.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-wave 5G, Sub-6 GHz 5G, WiFi-5/6, WiMAX bands.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mm-wave 5G is power efficient with very faster data rate.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Sub-6 GHz 5G is more ready to go technology with wider coverage.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8711" y="327914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696" y="953110"/>
            <a:ext cx="10627429" cy="603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umerous antennas are developed by RF researchers.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terms of mm-wave a 28/38 GHz slotted microstrip antenna is introduced in [1]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dual band mm-wave antenna with the size of 4×9.45 mm</a:t>
            </a:r>
            <a:r>
              <a:rPr lang="en-US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presented in [2] for 5G applications.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square-shaped slot antenna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and a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TLY-5-0200 dielectric substrate based patch antenna is introduced in [3-4].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[5], a multi-slotted rectangular stepped patch antenna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and in [6], 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simple circular patch antenna are introduced for Sub-6 GHz band.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compact F-shaped slotted antenna is proposed in [7] for WLAN/WiMAX applications.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[8], a partially slotted ground rectangular printed antenna is designed for the Sub-6 GHz band.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 oval-shaped CPW-Fed monopole antenna is introduced in [9] for Wi-Fi and a compact antenna with rectangular slot and inverted U-shaped stub is presented in [10] for sub-6 GHz 5G application.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293847-82BE-48D6-88A7-7EDB719A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83105" y="6422695"/>
            <a:ext cx="8422614" cy="278639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6A8AF-457D-4EBE-9B6F-2E47A713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51E95-25D2-4E90-BB36-A671E60208B4}"/>
              </a:ext>
            </a:extLst>
          </p:cNvPr>
          <p:cNvSpPr txBox="1"/>
          <p:nvPr/>
        </p:nvSpPr>
        <p:spPr>
          <a:xfrm>
            <a:off x="1065212" y="156666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 of Frequency Bands for Different Countries and Regions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5DDFF-8C9E-490A-8651-9E7843E27F58}"/>
              </a:ext>
            </a:extLst>
          </p:cNvPr>
          <p:cNvSpPr txBox="1"/>
          <p:nvPr/>
        </p:nvSpPr>
        <p:spPr>
          <a:xfrm>
            <a:off x="836612" y="1489334"/>
            <a:ext cx="10744200" cy="44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7867B0-AED8-486E-81C6-70A795705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269834"/>
              </p:ext>
            </p:extLst>
          </p:nvPr>
        </p:nvGraphicFramePr>
        <p:xfrm>
          <a:off x="2401977" y="1825508"/>
          <a:ext cx="7613469" cy="3297214"/>
        </p:xfrm>
        <a:graphic>
          <a:graphicData uri="http://schemas.openxmlformats.org/drawingml/2006/table">
            <a:tbl>
              <a:tblPr firstRow="1" firstCol="1" bandRow="1"/>
              <a:tblGrid>
                <a:gridCol w="2537823">
                  <a:extLst>
                    <a:ext uri="{9D8B030D-6E8A-4147-A177-3AD203B41FA5}">
                      <a16:colId xmlns:a16="http://schemas.microsoft.com/office/drawing/2014/main" val="635828937"/>
                    </a:ext>
                  </a:extLst>
                </a:gridCol>
                <a:gridCol w="2415177">
                  <a:extLst>
                    <a:ext uri="{9D8B030D-6E8A-4147-A177-3AD203B41FA5}">
                      <a16:colId xmlns:a16="http://schemas.microsoft.com/office/drawing/2014/main" val="3739482262"/>
                    </a:ext>
                  </a:extLst>
                </a:gridCol>
                <a:gridCol w="2660469">
                  <a:extLst>
                    <a:ext uri="{9D8B030D-6E8A-4147-A177-3AD203B41FA5}">
                      <a16:colId xmlns:a16="http://schemas.microsoft.com/office/drawing/2014/main" val="4163975545"/>
                    </a:ext>
                  </a:extLst>
                </a:gridCol>
              </a:tblGrid>
              <a:tr h="6533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Country / Region 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Band (GHz)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Sub-6 GHz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Band (GHz)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Mm-wave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168108"/>
                  </a:ext>
                </a:extLst>
              </a:tr>
              <a:tr h="3620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USA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3.7 - 4.2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27.5 - 28.35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584138"/>
                  </a:ext>
                </a:extLst>
              </a:tr>
              <a:tr h="3422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Europe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3.4 - 3.8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24.5 - 27.5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530380"/>
                  </a:ext>
                </a:extLst>
              </a:tr>
              <a:tr h="4170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China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3.3 - 3.6 and 4.8 - 5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24.75 – 27.5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470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 – 4.1 and 4.5 – 4.9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26.6 – 27 and 27 – 29.5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2847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Korea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3.4 - 3.7 and 3.7 – 4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26.5 – 28.9 and 28.9 – 29.5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554"/>
                  </a:ext>
                </a:extLst>
              </a:tr>
              <a:tr h="3422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3.3 – 3.6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27.5 – 29.5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159083"/>
                  </a:ext>
                </a:extLst>
              </a:tr>
              <a:tr h="3422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3.4 - 3.7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24.25 – 27.5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35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930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7312" y="881053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4812" y="2362200"/>
            <a:ext cx="9661464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different shaped planar antennas with DGS.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of simulation results.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the research.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1744" y="309873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Basic Antenna Design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412" y="1310302"/>
            <a:ext cx="10194864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patch width: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effective dielectric constant: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patch effective length: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 = speed of light, h = substrate thickness, </a:t>
            </a:r>
            <a:r>
              <a:rPr lang="el-G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dielectric constant and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operating frequency.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CF19E5-24AE-4721-9F15-A15ADE749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480" y="3539278"/>
            <a:ext cx="2057400" cy="739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E69424-2895-4CD2-A485-9E16C7AC4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218" y="1238377"/>
            <a:ext cx="2069077" cy="1052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256C57-110E-44FD-A269-B39E5EFC4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218" y="2278996"/>
            <a:ext cx="3367045" cy="80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3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309" y="590118"/>
            <a:ext cx="8961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Basic Antenna Performance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18527" y="1905000"/>
            <a:ext cx="7993033" cy="234532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Directivity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Efficiency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Pattern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Coefficient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VSWR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Loss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Current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matching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7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23" y="624323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684687" y="4901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Slotted Ground Plane Patch Antenna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9159837" y="702310"/>
            <a:ext cx="202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summary:</a:t>
            </a:r>
            <a:endParaRPr lang="en-US" dirty="0"/>
          </a:p>
        </p:txBody>
      </p:sp>
      <p:sp>
        <p:nvSpPr>
          <p:cNvPr id="21" name="Text Box 20"/>
          <p:cNvSpPr txBox="1"/>
          <p:nvPr/>
        </p:nvSpPr>
        <p:spPr>
          <a:xfrm>
            <a:off x="7971996" y="4190918"/>
            <a:ext cx="4044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Substrate-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Rogers RT5880 (lossy),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Dielectric constant – 2.2 and Tangent loss – 0.0009. T= 0.79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Copper (annealed), T=0.035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CST Microwave Studio Suite.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TD and FD Solver.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3F5D75-17ED-4A47-A8A7-E2C6A02D01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1830" y="637735"/>
            <a:ext cx="2712182" cy="27912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F30A59-5E39-4B0A-B8E7-30B1197C93D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30002" y="627680"/>
            <a:ext cx="3047682" cy="2791266"/>
          </a:xfrm>
          <a:prstGeom prst="rect">
            <a:avLst/>
          </a:prstGeom>
        </p:spPr>
      </p:pic>
      <p:pic>
        <p:nvPicPr>
          <p:cNvPr id="22" name="image3.png">
            <a:extLst>
              <a:ext uri="{FF2B5EF4-FFF2-40B4-BE49-F238E27FC236}">
                <a16:creationId xmlns:a16="http://schemas.microsoft.com/office/drawing/2014/main" id="{3F5C7788-9F91-4B93-8BCE-6755153B8BC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39892" y="3606636"/>
            <a:ext cx="2874649" cy="2306067"/>
          </a:xfrm>
          <a:prstGeom prst="rect">
            <a:avLst/>
          </a:prstGeom>
          <a:ln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089BF-C86A-41FE-A09F-30A67B2EBA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497" t="15306" r="9928" b="1021"/>
          <a:stretch/>
        </p:blipFill>
        <p:spPr>
          <a:xfrm>
            <a:off x="7822735" y="1070610"/>
            <a:ext cx="4343400" cy="3124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147363-606E-4B05-A90C-38A40F443218}"/>
              </a:ext>
            </a:extLst>
          </p:cNvPr>
          <p:cNvSpPr txBox="1"/>
          <p:nvPr/>
        </p:nvSpPr>
        <p:spPr>
          <a:xfrm>
            <a:off x="871449" y="3606636"/>
            <a:ext cx="166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 Front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E7C8A-01A4-46F3-B27C-09F7BC7FEE23}"/>
              </a:ext>
            </a:extLst>
          </p:cNvPr>
          <p:cNvSpPr txBox="1"/>
          <p:nvPr/>
        </p:nvSpPr>
        <p:spPr>
          <a:xfrm>
            <a:off x="4646612" y="3523599"/>
            <a:ext cx="169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 Back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CEADF-5D4A-4183-A148-AB4E2F1D6C0C}"/>
              </a:ext>
            </a:extLst>
          </p:cNvPr>
          <p:cNvSpPr txBox="1"/>
          <p:nvPr/>
        </p:nvSpPr>
        <p:spPr>
          <a:xfrm>
            <a:off x="1915588" y="5715337"/>
            <a:ext cx="3498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(c) 3D View</a:t>
            </a:r>
          </a:p>
          <a:p>
            <a:pPr algn="ctr"/>
            <a:r>
              <a:rPr lang="en-US" dirty="0"/>
              <a:t>Fig-1: Proposed slotted Antenna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73962"/>
            <a:ext cx="12188825" cy="685800"/>
          </a:xfrm>
        </p:spPr>
        <p:txBody>
          <a:bodyPr/>
          <a:lstStyle/>
          <a:p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  <a:p>
            <a:endParaRPr lang="en-US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-363065" y="-33814"/>
            <a:ext cx="12914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of Slotted Ground Plane Patch Antenna</a:t>
            </a:r>
          </a:p>
        </p:txBody>
      </p:sp>
      <p:pic>
        <p:nvPicPr>
          <p:cNvPr id="12" name="image14.png">
            <a:extLst>
              <a:ext uri="{FF2B5EF4-FFF2-40B4-BE49-F238E27FC236}">
                <a16:creationId xmlns:a16="http://schemas.microsoft.com/office/drawing/2014/main" id="{058E415A-A72A-4291-B2BE-2CE060522F6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0812" y="569491"/>
            <a:ext cx="4114800" cy="2695037"/>
          </a:xfrm>
          <a:prstGeom prst="rect">
            <a:avLst/>
          </a:prstGeom>
          <a:ln/>
        </p:spPr>
      </p:pic>
      <p:pic>
        <p:nvPicPr>
          <p:cNvPr id="14" name="image13.png">
            <a:extLst>
              <a:ext uri="{FF2B5EF4-FFF2-40B4-BE49-F238E27FC236}">
                <a16:creationId xmlns:a16="http://schemas.microsoft.com/office/drawing/2014/main" id="{F5A8BB3D-C035-4790-9D92-18EBB74CBBA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051460" y="642075"/>
            <a:ext cx="3871754" cy="2647214"/>
          </a:xfrm>
          <a:prstGeom prst="rect">
            <a:avLst/>
          </a:prstGeom>
          <a:ln/>
        </p:spPr>
      </p:pic>
      <p:pic>
        <p:nvPicPr>
          <p:cNvPr id="18" name="image2.png">
            <a:extLst>
              <a:ext uri="{FF2B5EF4-FFF2-40B4-BE49-F238E27FC236}">
                <a16:creationId xmlns:a16="http://schemas.microsoft.com/office/drawing/2014/main" id="{02E653B5-60CA-4B2C-978A-9F1944A0848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9412" y="3568712"/>
            <a:ext cx="3886200" cy="2362200"/>
          </a:xfrm>
          <a:prstGeom prst="rect">
            <a:avLst/>
          </a:prstGeom>
          <a:ln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44C6A3-1038-464F-BBEA-0EE5E8A37DD2}"/>
              </a:ext>
            </a:extLst>
          </p:cNvPr>
          <p:cNvSpPr txBox="1"/>
          <p:nvPr/>
        </p:nvSpPr>
        <p:spPr>
          <a:xfrm>
            <a:off x="1324728" y="324682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Fig-2: S11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61FD5-59DA-486C-A4D7-97679B15396E}"/>
              </a:ext>
            </a:extLst>
          </p:cNvPr>
          <p:cNvSpPr txBox="1"/>
          <p:nvPr/>
        </p:nvSpPr>
        <p:spPr>
          <a:xfrm>
            <a:off x="4844337" y="3246827"/>
            <a:ext cx="228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Fig-3: VSWR Curve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4F6CC-201F-4C06-AA91-5B42E1F15F64}"/>
              </a:ext>
            </a:extLst>
          </p:cNvPr>
          <p:cNvSpPr txBox="1"/>
          <p:nvPr/>
        </p:nvSpPr>
        <p:spPr>
          <a:xfrm>
            <a:off x="344927" y="5930386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Fig-4: Gain &amp; Directivity VS Frequency </a:t>
            </a:r>
          </a:p>
        </p:txBody>
      </p:sp>
      <p:pic>
        <p:nvPicPr>
          <p:cNvPr id="15" name="image7.png">
            <a:extLst>
              <a:ext uri="{FF2B5EF4-FFF2-40B4-BE49-F238E27FC236}">
                <a16:creationId xmlns:a16="http://schemas.microsoft.com/office/drawing/2014/main" id="{E23F4999-30AD-45AB-A026-8BC4BB758FFF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154383" y="3627827"/>
            <a:ext cx="3880053" cy="2264878"/>
          </a:xfrm>
          <a:prstGeom prst="rect">
            <a:avLst/>
          </a:prstGeom>
          <a:ln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F40B24E-0FF3-455F-B5DC-A4D2CAD70FFA}"/>
              </a:ext>
            </a:extLst>
          </p:cNvPr>
          <p:cNvSpPr txBox="1"/>
          <p:nvPr/>
        </p:nvSpPr>
        <p:spPr>
          <a:xfrm>
            <a:off x="4566817" y="5930386"/>
            <a:ext cx="305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Fig-5: Radiation Efficiency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F245A3-8BBC-481A-9E9B-1ABC58F1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11605"/>
              </p:ext>
            </p:extLst>
          </p:nvPr>
        </p:nvGraphicFramePr>
        <p:xfrm>
          <a:off x="8434349" y="1032258"/>
          <a:ext cx="3358678" cy="4542242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442738">
                  <a:extLst>
                    <a:ext uri="{9D8B030D-6E8A-4147-A177-3AD203B41FA5}">
                      <a16:colId xmlns:a16="http://schemas.microsoft.com/office/drawing/2014/main" val="1140545051"/>
                    </a:ext>
                  </a:extLst>
                </a:gridCol>
                <a:gridCol w="915940">
                  <a:extLst>
                    <a:ext uri="{9D8B030D-6E8A-4147-A177-3AD203B41FA5}">
                      <a16:colId xmlns:a16="http://schemas.microsoft.com/office/drawing/2014/main" val="2748932543"/>
                    </a:ext>
                  </a:extLst>
                </a:gridCol>
              </a:tblGrid>
              <a:tr h="4634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Performance Parameter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Value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8088004"/>
                  </a:ext>
                </a:extLst>
              </a:tr>
              <a:tr h="4634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Resonant frequency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27.47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762735"/>
                  </a:ext>
                </a:extLst>
              </a:tr>
              <a:tr h="3936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Lower Cut off Frequency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26.154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8116673"/>
                  </a:ext>
                </a:extLst>
              </a:tr>
              <a:tr h="4564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Higher Cut off Frequency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227254"/>
                  </a:ext>
                </a:extLst>
              </a:tr>
              <a:tr h="4783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-10 dB Bandwidth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4.846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9809481"/>
                  </a:ext>
                </a:extLst>
              </a:tr>
              <a:tr h="4634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 parameter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-35.064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860554"/>
                  </a:ext>
                </a:extLst>
              </a:tr>
              <a:tr h="373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5.22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31783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Directivity (dBi)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7.48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3928220"/>
                  </a:ext>
                </a:extLst>
              </a:tr>
              <a:tr h="310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VSWR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1.036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7207382"/>
                  </a:ext>
                </a:extLst>
              </a:tr>
              <a:tr h="310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Avg. Rad. Efficiency (%)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≈ </a:t>
                      </a:r>
                      <a:r>
                        <a:rPr lang="en-US" sz="1800" dirty="0">
                          <a:effectLst/>
                        </a:rPr>
                        <a:t>70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15628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927" y="177834"/>
            <a:ext cx="10995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with Recent Relevant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2B7B8B-FC2C-4D5E-AE3D-D141A318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32606"/>
              </p:ext>
            </p:extLst>
          </p:nvPr>
        </p:nvGraphicFramePr>
        <p:xfrm>
          <a:off x="1992593" y="1099889"/>
          <a:ext cx="8492501" cy="5072311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082794">
                  <a:extLst>
                    <a:ext uri="{9D8B030D-6E8A-4147-A177-3AD203B41FA5}">
                      <a16:colId xmlns:a16="http://schemas.microsoft.com/office/drawing/2014/main" val="1761591841"/>
                    </a:ext>
                  </a:extLst>
                </a:gridCol>
                <a:gridCol w="1281579">
                  <a:extLst>
                    <a:ext uri="{9D8B030D-6E8A-4147-A177-3AD203B41FA5}">
                      <a16:colId xmlns:a16="http://schemas.microsoft.com/office/drawing/2014/main" val="1875100385"/>
                    </a:ext>
                  </a:extLst>
                </a:gridCol>
                <a:gridCol w="1281579">
                  <a:extLst>
                    <a:ext uri="{9D8B030D-6E8A-4147-A177-3AD203B41FA5}">
                      <a16:colId xmlns:a16="http://schemas.microsoft.com/office/drawing/2014/main" val="1895972590"/>
                    </a:ext>
                  </a:extLst>
                </a:gridCol>
                <a:gridCol w="1282485">
                  <a:extLst>
                    <a:ext uri="{9D8B030D-6E8A-4147-A177-3AD203B41FA5}">
                      <a16:colId xmlns:a16="http://schemas.microsoft.com/office/drawing/2014/main" val="1084246511"/>
                    </a:ext>
                  </a:extLst>
                </a:gridCol>
                <a:gridCol w="1282485">
                  <a:extLst>
                    <a:ext uri="{9D8B030D-6E8A-4147-A177-3AD203B41FA5}">
                      <a16:colId xmlns:a16="http://schemas.microsoft.com/office/drawing/2014/main" val="3892221383"/>
                    </a:ext>
                  </a:extLst>
                </a:gridCol>
                <a:gridCol w="1281579">
                  <a:extLst>
                    <a:ext uri="{9D8B030D-6E8A-4147-A177-3AD203B41FA5}">
                      <a16:colId xmlns:a16="http://schemas.microsoft.com/office/drawing/2014/main" val="1739179957"/>
                    </a:ext>
                  </a:extLst>
                </a:gridCol>
              </a:tblGrid>
              <a:tr h="292799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Parameter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Reference No.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This work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9015146"/>
                  </a:ext>
                </a:extLst>
              </a:tr>
              <a:tr h="28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[11]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[12]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[13]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[14]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03412"/>
                  </a:ext>
                </a:extLst>
              </a:tr>
              <a:tr h="87456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Size</a:t>
                      </a:r>
                    </a:p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(L×W)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Mm</a:t>
                      </a:r>
                      <a:r>
                        <a:rPr lang="en-US" sz="1800" baseline="30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55 × 115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55 × 110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5×5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35×36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20×20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2345874"/>
                  </a:ext>
                </a:extLst>
              </a:tr>
              <a:tr h="9281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Substrate material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Teflon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0784917"/>
                  </a:ext>
                </a:extLst>
              </a:tr>
              <a:tr h="10362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Centre frequency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≈27.9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≈27.5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28.49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27.47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5873516"/>
                  </a:ext>
                </a:extLst>
              </a:tr>
              <a:tr h="66119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Return loss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-27.908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-37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-43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-39.55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-35.03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5373012"/>
                  </a:ext>
                </a:extLst>
              </a:tr>
              <a:tr h="4277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7.182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7.88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8.841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5.22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1714311"/>
                  </a:ext>
                </a:extLst>
              </a:tr>
              <a:tr h="56646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BW</a:t>
                      </a:r>
                    </a:p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(GHz)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2.305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1.0683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0.814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4.846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331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9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23" y="6392385"/>
            <a:ext cx="12188825" cy="685800"/>
          </a:xfrm>
        </p:spPr>
        <p:txBody>
          <a:bodyPr/>
          <a:lstStyle/>
          <a:p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  <a:p>
            <a:endParaRPr lang="en-US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684689" y="19734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Low Profile Patch Antenna with DGS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9117412" y="884809"/>
            <a:ext cx="202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summary:</a:t>
            </a:r>
            <a:endParaRPr lang="en-US" dirty="0"/>
          </a:p>
        </p:txBody>
      </p:sp>
      <p:sp>
        <p:nvSpPr>
          <p:cNvPr id="21" name="Text Box 20"/>
          <p:cNvSpPr txBox="1"/>
          <p:nvPr/>
        </p:nvSpPr>
        <p:spPr>
          <a:xfrm>
            <a:off x="8132429" y="4339186"/>
            <a:ext cx="3815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Substrate-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Rogers RT5880 (lossy),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Dielectric constant – 2.2 and Tangent loss – 0.0009. T= 0.79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Copper (annealed), T=0.035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CST Microwave Studio Suite.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TD and FD Solver.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4908D1-CBB3-4450-A495-27CACA49CC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7012" y="666064"/>
            <a:ext cx="3117898" cy="27310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50D488-FC87-466D-A61D-55D15CFB153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37619" y="691856"/>
            <a:ext cx="3117898" cy="27052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B4C8CE-EB3C-4B32-B22C-1FC1B496770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22702" y="3361934"/>
            <a:ext cx="3276600" cy="2503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607B27-EC55-4F8E-BF52-CE3697F14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173" y="1235850"/>
            <a:ext cx="3276600" cy="30586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3771F7-4B4C-41D9-A738-0F47EC115388}"/>
              </a:ext>
            </a:extLst>
          </p:cNvPr>
          <p:cNvSpPr txBox="1"/>
          <p:nvPr/>
        </p:nvSpPr>
        <p:spPr>
          <a:xfrm>
            <a:off x="166192" y="3327184"/>
            <a:ext cx="327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(a) Front 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5FB4B-344D-4738-9904-0FA7B83A0791}"/>
              </a:ext>
            </a:extLst>
          </p:cNvPr>
          <p:cNvSpPr txBox="1"/>
          <p:nvPr/>
        </p:nvSpPr>
        <p:spPr>
          <a:xfrm>
            <a:off x="4024554" y="3327184"/>
            <a:ext cx="342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(b) Back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146934-B662-483B-A565-A48B46E85D59}"/>
              </a:ext>
            </a:extLst>
          </p:cNvPr>
          <p:cNvSpPr txBox="1"/>
          <p:nvPr/>
        </p:nvSpPr>
        <p:spPr>
          <a:xfrm>
            <a:off x="1008734" y="5724300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(c) 3D View</a:t>
            </a:r>
          </a:p>
          <a:p>
            <a:pPr algn="ctr"/>
            <a:r>
              <a:rPr lang="en-US" dirty="0"/>
              <a:t>Fig-6: Proposed Antenna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817" y="6529017"/>
            <a:ext cx="12188825" cy="685800"/>
          </a:xfrm>
        </p:spPr>
        <p:txBody>
          <a:bodyPr/>
          <a:lstStyle/>
          <a:p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647064" y="-88859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of Patch Antenna with DGS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82721-A9AC-47AD-A223-939AE82C07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9069" y="550438"/>
            <a:ext cx="3657600" cy="2552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EE919C-9276-4D84-AFAE-F9F5F13329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13212" y="634429"/>
            <a:ext cx="3657600" cy="25526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792CAA-FD03-4557-B8C8-7D5F0B19016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3212" y="3515632"/>
            <a:ext cx="3533457" cy="2459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D0D53A-714E-4501-8FF7-7CB7ED615122}"/>
              </a:ext>
            </a:extLst>
          </p:cNvPr>
          <p:cNvSpPr txBox="1"/>
          <p:nvPr/>
        </p:nvSpPr>
        <p:spPr>
          <a:xfrm>
            <a:off x="726660" y="305966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Fig-7: S11 Curve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9D047-51DD-4F66-987C-37B17870EC02}"/>
              </a:ext>
            </a:extLst>
          </p:cNvPr>
          <p:cNvSpPr txBox="1"/>
          <p:nvPr/>
        </p:nvSpPr>
        <p:spPr>
          <a:xfrm>
            <a:off x="4673502" y="3164316"/>
            <a:ext cx="2432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Fig-8: VSWR Curve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8E0A5-6781-469C-9E40-3ADB0E3944CF}"/>
              </a:ext>
            </a:extLst>
          </p:cNvPr>
          <p:cNvSpPr txBox="1"/>
          <p:nvPr/>
        </p:nvSpPr>
        <p:spPr>
          <a:xfrm>
            <a:off x="67860" y="5939623"/>
            <a:ext cx="406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Fig-9: Gain &amp; Directivity VS Frequency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9818FE-124B-45B7-BE0F-3D6DE8BE97B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867906" y="3509461"/>
            <a:ext cx="4256418" cy="25455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488224-6E3C-44D2-9911-D19450FD901E}"/>
              </a:ext>
            </a:extLst>
          </p:cNvPr>
          <p:cNvSpPr txBox="1"/>
          <p:nvPr/>
        </p:nvSpPr>
        <p:spPr>
          <a:xfrm>
            <a:off x="4174039" y="5974643"/>
            <a:ext cx="3315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Fig-10: Radiation Efficiency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946D47-5375-4C2F-99AD-FDAB0E661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609118"/>
              </p:ext>
            </p:extLst>
          </p:nvPr>
        </p:nvGraphicFramePr>
        <p:xfrm>
          <a:off x="8176247" y="945613"/>
          <a:ext cx="3605386" cy="4697314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629044">
                  <a:extLst>
                    <a:ext uri="{9D8B030D-6E8A-4147-A177-3AD203B41FA5}">
                      <a16:colId xmlns:a16="http://schemas.microsoft.com/office/drawing/2014/main" val="4162667089"/>
                    </a:ext>
                  </a:extLst>
                </a:gridCol>
                <a:gridCol w="976342">
                  <a:extLst>
                    <a:ext uri="{9D8B030D-6E8A-4147-A177-3AD203B41FA5}">
                      <a16:colId xmlns:a16="http://schemas.microsoft.com/office/drawing/2014/main" val="498222692"/>
                    </a:ext>
                  </a:extLst>
                </a:gridCol>
              </a:tblGrid>
              <a:tr h="411352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kern="150" dirty="0">
                          <a:effectLst/>
                        </a:rPr>
                        <a:t>Name of the parameter</a:t>
                      </a:r>
                      <a:endParaRPr lang="en-US" sz="180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kern="150" dirty="0">
                          <a:effectLst/>
                        </a:rPr>
                        <a:t>Value</a:t>
                      </a:r>
                      <a:endParaRPr lang="en-US" sz="180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7674364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Return loss (dB)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>
                          <a:effectLst/>
                        </a:rPr>
                        <a:t>-35.353</a:t>
                      </a:r>
                      <a:endParaRPr lang="en-US" sz="1800" b="0" kern="1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4152852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Resonant frequency (GHz)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>
                          <a:effectLst/>
                        </a:rPr>
                        <a:t>27.26</a:t>
                      </a:r>
                      <a:endParaRPr lang="en-US" sz="1800" b="0" kern="1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7364660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Gain (dB)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>
                          <a:effectLst/>
                        </a:rPr>
                        <a:t>5.11</a:t>
                      </a:r>
                      <a:endParaRPr lang="en-US" sz="1800" b="0" kern="1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3579939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Directivity (dBi)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7.1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3026419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-10 dB Bandwidth (GHz)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5.85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6796537"/>
                  </a:ext>
                </a:extLst>
              </a:tr>
              <a:tr h="445738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Lower cut off frequency (GHz)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25.52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3673555"/>
                  </a:ext>
                </a:extLst>
              </a:tr>
              <a:tr h="480123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>
                          <a:effectLst/>
                        </a:rPr>
                        <a:t>Higher cut off frequency (GHz)</a:t>
                      </a:r>
                      <a:endParaRPr lang="en-US" sz="1800" b="0" kern="1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31.37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8758325"/>
                  </a:ext>
                </a:extLst>
              </a:tr>
              <a:tr h="411352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VSWR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 dirty="0">
                          <a:effectLst/>
                        </a:rPr>
                        <a:t>1.034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2202482"/>
                  </a:ext>
                </a:extLst>
              </a:tr>
              <a:tr h="525971"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b="0" kern="150">
                          <a:effectLst/>
                        </a:rPr>
                        <a:t>Maximum Radiation Efficiency (%)</a:t>
                      </a:r>
                      <a:endParaRPr lang="en-US" sz="1800" b="0" kern="1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50" dirty="0">
                          <a:effectLst/>
                          <a:highlight>
                            <a:srgbClr val="FFFFFF"/>
                          </a:highlight>
                        </a:rPr>
                        <a:t>≈</a:t>
                      </a:r>
                      <a:r>
                        <a:rPr lang="en-AU" sz="1800" b="0" kern="150" dirty="0">
                          <a:effectLst/>
                        </a:rPr>
                        <a:t>66</a:t>
                      </a:r>
                      <a:endParaRPr lang="en-US" sz="1800" b="0" kern="1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3329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927" y="177834"/>
            <a:ext cx="10995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with Recent Relevant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2B3F16-447C-4F41-906C-7AEA2E7C0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99306"/>
              </p:ext>
            </p:extLst>
          </p:nvPr>
        </p:nvGraphicFramePr>
        <p:xfrm>
          <a:off x="1217612" y="885720"/>
          <a:ext cx="9601199" cy="5296527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232837">
                  <a:extLst>
                    <a:ext uri="{9D8B030D-6E8A-4147-A177-3AD203B41FA5}">
                      <a16:colId xmlns:a16="http://schemas.microsoft.com/office/drawing/2014/main" val="4198443882"/>
                    </a:ext>
                  </a:extLst>
                </a:gridCol>
                <a:gridCol w="1711842">
                  <a:extLst>
                    <a:ext uri="{9D8B030D-6E8A-4147-A177-3AD203B41FA5}">
                      <a16:colId xmlns:a16="http://schemas.microsoft.com/office/drawing/2014/main" val="988875964"/>
                    </a:ext>
                  </a:extLst>
                </a:gridCol>
                <a:gridCol w="1442656">
                  <a:extLst>
                    <a:ext uri="{9D8B030D-6E8A-4147-A177-3AD203B41FA5}">
                      <a16:colId xmlns:a16="http://schemas.microsoft.com/office/drawing/2014/main" val="2147312795"/>
                    </a:ext>
                  </a:extLst>
                </a:gridCol>
                <a:gridCol w="1395250">
                  <a:extLst>
                    <a:ext uri="{9D8B030D-6E8A-4147-A177-3AD203B41FA5}">
                      <a16:colId xmlns:a16="http://schemas.microsoft.com/office/drawing/2014/main" val="3360036492"/>
                    </a:ext>
                  </a:extLst>
                </a:gridCol>
                <a:gridCol w="1395250">
                  <a:extLst>
                    <a:ext uri="{9D8B030D-6E8A-4147-A177-3AD203B41FA5}">
                      <a16:colId xmlns:a16="http://schemas.microsoft.com/office/drawing/2014/main" val="385441918"/>
                    </a:ext>
                  </a:extLst>
                </a:gridCol>
                <a:gridCol w="1423364">
                  <a:extLst>
                    <a:ext uri="{9D8B030D-6E8A-4147-A177-3AD203B41FA5}">
                      <a16:colId xmlns:a16="http://schemas.microsoft.com/office/drawing/2014/main" val="3246709002"/>
                    </a:ext>
                  </a:extLst>
                </a:gridCol>
              </a:tblGrid>
              <a:tr h="184664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Parameter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Reference No.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This work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4039822666"/>
                  </a:ext>
                </a:extLst>
              </a:tr>
              <a:tr h="2104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[15]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[16]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[17]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[18]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403277"/>
                  </a:ext>
                </a:extLst>
              </a:tr>
              <a:tr h="69195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Size (L×W)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mm</a:t>
                      </a:r>
                      <a:r>
                        <a:rPr lang="en-US" sz="1800" baseline="300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33×44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4×9.45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5× 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35×36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20×20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617634981"/>
                  </a:ext>
                </a:extLst>
              </a:tr>
              <a:tr h="9302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Substrate material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TLY-5-0200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Material (εr=4.4)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Rogers RT5880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Teflon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1307004329"/>
                  </a:ext>
                </a:extLst>
              </a:tr>
              <a:tr h="826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Frequency Range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27.3 − 28.8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25.2-34.3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20-42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28.1-28.914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25.52-31.37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557888995"/>
                  </a:ext>
                </a:extLst>
              </a:tr>
              <a:tr h="7235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Centre frequency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≈27.4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28.49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27.26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1343596146"/>
                  </a:ext>
                </a:extLst>
              </a:tr>
              <a:tr h="72350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Return loss (dB)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-30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≈ -43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-39.55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-35.353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2313656158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9.9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8.841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5.11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3319698531"/>
                  </a:ext>
                </a:extLst>
              </a:tr>
              <a:tr h="3275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BW (GHz)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9.1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0.814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5.85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6829" marR="56829" marT="0" marB="0" anchor="ctr"/>
                </a:tc>
                <a:extLst>
                  <a:ext uri="{0D108BD9-81ED-4DB2-BD59-A6C34878D82A}">
                    <a16:rowId xmlns:a16="http://schemas.microsoft.com/office/drawing/2014/main" val="280460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60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17864"/>
            <a:ext cx="12188825" cy="685800"/>
          </a:xfrm>
        </p:spPr>
        <p:txBody>
          <a:bodyPr/>
          <a:lstStyle/>
          <a:p>
            <a:r>
              <a:rPr lang="en-US" sz="1600" b="1" i="1" dirty="0"/>
              <a:t> 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83367" y="6560764"/>
            <a:ext cx="1311683" cy="365125"/>
          </a:xfrm>
        </p:spPr>
        <p:txBody>
          <a:bodyPr/>
          <a:lstStyle/>
          <a:p>
            <a:fld id="{B179BDF8-8300-4086-A4D1-E9D9DF2D84C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444514" y="114673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Spiral-Shaped Patch Antenna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8194635" y="1484999"/>
            <a:ext cx="3800415" cy="2540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Substrate-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Rogers RT5880 (lossy),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Dielectric constant – 2.2 and Tangent loss – 0.0009. T= 0.79 mm.</a:t>
            </a:r>
          </a:p>
          <a:p>
            <a:pPr marL="285750" indent="-285750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Copper (annealed), T=0.035 mm.</a:t>
            </a:r>
          </a:p>
          <a:p>
            <a:pPr marL="285750" indent="-285750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CST Microwave Studio Suite.</a:t>
            </a:r>
          </a:p>
          <a:p>
            <a:pPr marL="285750" indent="-285750">
              <a:lnSpc>
                <a:spcPct val="150000"/>
              </a:lnSpc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TD and FD Solver.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47363-606E-4B05-A90C-38A40F443218}"/>
              </a:ext>
            </a:extLst>
          </p:cNvPr>
          <p:cNvSpPr txBox="1"/>
          <p:nvPr/>
        </p:nvSpPr>
        <p:spPr>
          <a:xfrm>
            <a:off x="444855" y="4594016"/>
            <a:ext cx="346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 Front View (dimensions in mm)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E7C8A-01A4-46F3-B27C-09F7BC7FEE23}"/>
              </a:ext>
            </a:extLst>
          </p:cNvPr>
          <p:cNvSpPr txBox="1"/>
          <p:nvPr/>
        </p:nvSpPr>
        <p:spPr>
          <a:xfrm>
            <a:off x="4412858" y="4594016"/>
            <a:ext cx="335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 Back View (dimensions in mm)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CEADF-5D4A-4183-A148-AB4E2F1D6C0C}"/>
              </a:ext>
            </a:extLst>
          </p:cNvPr>
          <p:cNvSpPr txBox="1"/>
          <p:nvPr/>
        </p:nvSpPr>
        <p:spPr>
          <a:xfrm>
            <a:off x="2022537" y="5152384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Fig-11: Spiral-shaped patch antenna.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D85C65-1F18-434F-A3AB-42D392894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8" t="2393" r="2576" b="2761"/>
          <a:stretch/>
        </p:blipFill>
        <p:spPr>
          <a:xfrm>
            <a:off x="438237" y="1095936"/>
            <a:ext cx="3650574" cy="30182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9FCD32-7C3A-4A2B-AA97-A116A89D1C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" t="6489" r="1677" b="1878"/>
          <a:stretch/>
        </p:blipFill>
        <p:spPr>
          <a:xfrm>
            <a:off x="4153113" y="1458036"/>
            <a:ext cx="3650575" cy="28091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38E43F-15A3-4975-8175-8852895E5C07}"/>
              </a:ext>
            </a:extLst>
          </p:cNvPr>
          <p:cNvSpPr txBox="1"/>
          <p:nvPr/>
        </p:nvSpPr>
        <p:spPr>
          <a:xfrm>
            <a:off x="1863112" y="6461283"/>
            <a:ext cx="8458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04079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73945" y="6364416"/>
            <a:ext cx="1311683" cy="365125"/>
          </a:xfrm>
        </p:spPr>
        <p:txBody>
          <a:bodyPr/>
          <a:lstStyle/>
          <a:p>
            <a:fld id="{B179BDF8-8300-4086-A4D1-E9D9DF2D84C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652969" y="-29854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of Spiral-Shaped Patch Antenna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4C6A3-1038-464F-BBEA-0EE5E8A37DD2}"/>
              </a:ext>
            </a:extLst>
          </p:cNvPr>
          <p:cNvSpPr txBox="1"/>
          <p:nvPr/>
        </p:nvSpPr>
        <p:spPr>
          <a:xfrm>
            <a:off x="1326832" y="32765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Fig-12: S11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61FD5-59DA-486C-A4D7-97679B15396E}"/>
              </a:ext>
            </a:extLst>
          </p:cNvPr>
          <p:cNvSpPr txBox="1"/>
          <p:nvPr/>
        </p:nvSpPr>
        <p:spPr>
          <a:xfrm>
            <a:off x="4774769" y="3182995"/>
            <a:ext cx="228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Fig-13: VSWR Curve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4F6CC-201F-4C06-AA91-5B42E1F15F64}"/>
              </a:ext>
            </a:extLst>
          </p:cNvPr>
          <p:cNvSpPr txBox="1"/>
          <p:nvPr/>
        </p:nvSpPr>
        <p:spPr>
          <a:xfrm>
            <a:off x="406605" y="5926391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Fig-14: Gain &amp; Directivity VS Frequency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51918A-D6B2-496C-98C4-83A3D7E6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7" y="647974"/>
            <a:ext cx="3976945" cy="2479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7DAEDC-A7BD-41E0-A296-B8DB6CD2B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44" y="608518"/>
            <a:ext cx="3465868" cy="2581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EBDE34-7C14-4D90-A69D-E253FCFE2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44" y="3692138"/>
            <a:ext cx="3886200" cy="2144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5F378F-03B0-4598-9740-FA791D922B0C}"/>
              </a:ext>
            </a:extLst>
          </p:cNvPr>
          <p:cNvSpPr txBox="1"/>
          <p:nvPr/>
        </p:nvSpPr>
        <p:spPr>
          <a:xfrm>
            <a:off x="4176808" y="5971577"/>
            <a:ext cx="35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Fig-15: Radiation Efficiency.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DD2D79-C14D-4D6A-8AF6-A24D06C51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1327" y="3557133"/>
            <a:ext cx="3539485" cy="249756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3EE3FE8-5F4E-46A8-AA7C-C3DB48DF5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299274"/>
              </p:ext>
            </p:extLst>
          </p:nvPr>
        </p:nvGraphicFramePr>
        <p:xfrm>
          <a:off x="8270319" y="840773"/>
          <a:ext cx="3513737" cy="4530305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175461">
                  <a:extLst>
                    <a:ext uri="{9D8B030D-6E8A-4147-A177-3AD203B41FA5}">
                      <a16:colId xmlns:a16="http://schemas.microsoft.com/office/drawing/2014/main" val="3967393616"/>
                    </a:ext>
                  </a:extLst>
                </a:gridCol>
                <a:gridCol w="1338276">
                  <a:extLst>
                    <a:ext uri="{9D8B030D-6E8A-4147-A177-3AD203B41FA5}">
                      <a16:colId xmlns:a16="http://schemas.microsoft.com/office/drawing/2014/main" val="1448936215"/>
                    </a:ext>
                  </a:extLst>
                </a:gridCol>
              </a:tblGrid>
              <a:tr h="4995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b="1" dirty="0">
                          <a:effectLst/>
                        </a:rPr>
                        <a:t>Parameter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b="1" dirty="0">
                          <a:effectLst/>
                        </a:rPr>
                        <a:t>Value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868344"/>
                  </a:ext>
                </a:extLst>
              </a:tr>
              <a:tr h="673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Centre frequency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3.61 and 5.56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8359432"/>
                  </a:ext>
                </a:extLst>
              </a:tr>
              <a:tr h="1021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Reflection coefficient (dB)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-41.29 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-37.85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4707564"/>
                  </a:ext>
                </a:extLst>
              </a:tr>
              <a:tr h="6855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1.5 and 2.67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5274455"/>
                  </a:ext>
                </a:extLst>
              </a:tr>
              <a:tr h="8276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BW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0.166 and 2.53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6294558"/>
                  </a:ext>
                </a:extLst>
              </a:tr>
              <a:tr h="8225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Efficiency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83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73177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927" y="177834"/>
            <a:ext cx="10995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with Recent Relevant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80612" y="6332538"/>
            <a:ext cx="1311683" cy="365125"/>
          </a:xfrm>
        </p:spPr>
        <p:txBody>
          <a:bodyPr/>
          <a:lstStyle/>
          <a:p>
            <a:fld id="{B179BDF8-8300-4086-A4D1-E9D9DF2D84C3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0E91B7-C7F1-481E-9E8E-8FB761290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32675"/>
              </p:ext>
            </p:extLst>
          </p:nvPr>
        </p:nvGraphicFramePr>
        <p:xfrm>
          <a:off x="1174635" y="885720"/>
          <a:ext cx="9839553" cy="5286482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411898">
                  <a:extLst>
                    <a:ext uri="{9D8B030D-6E8A-4147-A177-3AD203B41FA5}">
                      <a16:colId xmlns:a16="http://schemas.microsoft.com/office/drawing/2014/main" val="2737696341"/>
                    </a:ext>
                  </a:extLst>
                </a:gridCol>
                <a:gridCol w="1483725">
                  <a:extLst>
                    <a:ext uri="{9D8B030D-6E8A-4147-A177-3AD203B41FA5}">
                      <a16:colId xmlns:a16="http://schemas.microsoft.com/office/drawing/2014/main" val="1641540612"/>
                    </a:ext>
                  </a:extLst>
                </a:gridCol>
                <a:gridCol w="1483725">
                  <a:extLst>
                    <a:ext uri="{9D8B030D-6E8A-4147-A177-3AD203B41FA5}">
                      <a16:colId xmlns:a16="http://schemas.microsoft.com/office/drawing/2014/main" val="1960883276"/>
                    </a:ext>
                  </a:extLst>
                </a:gridCol>
                <a:gridCol w="1488240">
                  <a:extLst>
                    <a:ext uri="{9D8B030D-6E8A-4147-A177-3AD203B41FA5}">
                      <a16:colId xmlns:a16="http://schemas.microsoft.com/office/drawing/2014/main" val="4063997246"/>
                    </a:ext>
                  </a:extLst>
                </a:gridCol>
                <a:gridCol w="1488240">
                  <a:extLst>
                    <a:ext uri="{9D8B030D-6E8A-4147-A177-3AD203B41FA5}">
                      <a16:colId xmlns:a16="http://schemas.microsoft.com/office/drawing/2014/main" val="3304577904"/>
                    </a:ext>
                  </a:extLst>
                </a:gridCol>
                <a:gridCol w="1483725">
                  <a:extLst>
                    <a:ext uri="{9D8B030D-6E8A-4147-A177-3AD203B41FA5}">
                      <a16:colId xmlns:a16="http://schemas.microsoft.com/office/drawing/2014/main" val="4190944393"/>
                    </a:ext>
                  </a:extLst>
                </a:gridCol>
              </a:tblGrid>
              <a:tr h="31483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Parameter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Reference No.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This work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4105610"/>
                  </a:ext>
                </a:extLst>
              </a:tr>
              <a:tr h="3148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[19]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[20]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[21]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[22]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67480"/>
                  </a:ext>
                </a:extLst>
              </a:tr>
              <a:tr h="11702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Size (L×W) mm</a:t>
                      </a:r>
                      <a:r>
                        <a:rPr lang="en-US" sz="1800" baseline="30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 × 30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 × 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20×8.7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20×40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20×20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8496023"/>
                  </a:ext>
                </a:extLst>
              </a:tr>
              <a:tr h="9289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Centre frequency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6.2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3.5 and 5.2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3.61 and 5.56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6603915"/>
                  </a:ext>
                </a:extLst>
              </a:tr>
              <a:tr h="10571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Reflection coefficient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-32.6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≈ -25 and ≈ -30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-41.29 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-37.85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5200464"/>
                  </a:ext>
                </a:extLst>
              </a:tr>
              <a:tr h="649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2.35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2.25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2.6 and 2.3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1.5 and 2.67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4973327"/>
                  </a:ext>
                </a:extLst>
              </a:tr>
              <a:tr h="85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BW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2.77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2.14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0.4 and 1.4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0.166 and 2.53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5553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846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9589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47064" y="28705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Rose-Shaped patch antenna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8220708" y="796607"/>
            <a:ext cx="3247705" cy="38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summary of the RSPA:</a:t>
            </a:r>
            <a:endParaRPr lang="en-US" sz="1900" dirty="0"/>
          </a:p>
        </p:txBody>
      </p:sp>
      <p:sp>
        <p:nvSpPr>
          <p:cNvPr id="21" name="Text Box 20"/>
          <p:cNvSpPr txBox="1"/>
          <p:nvPr/>
        </p:nvSpPr>
        <p:spPr>
          <a:xfrm>
            <a:off x="7875441" y="4136794"/>
            <a:ext cx="4044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Substrate-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Rogers RT5880 (lossy),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Dielectric constant – 2.2 and Tangent loss – 0.0009. T= 0.79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Copper (annealed), T=0.035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CST Microwave Studio Suite.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TD and FD Solver.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47363-606E-4B05-A90C-38A40F443218}"/>
              </a:ext>
            </a:extLst>
          </p:cNvPr>
          <p:cNvSpPr txBox="1"/>
          <p:nvPr/>
        </p:nvSpPr>
        <p:spPr>
          <a:xfrm>
            <a:off x="744830" y="3497513"/>
            <a:ext cx="166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 Front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E7C8A-01A4-46F3-B27C-09F7BC7FEE23}"/>
              </a:ext>
            </a:extLst>
          </p:cNvPr>
          <p:cNvSpPr txBox="1"/>
          <p:nvPr/>
        </p:nvSpPr>
        <p:spPr>
          <a:xfrm>
            <a:off x="5042211" y="3510544"/>
            <a:ext cx="169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 Back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CEADF-5D4A-4183-A148-AB4E2F1D6C0C}"/>
              </a:ext>
            </a:extLst>
          </p:cNvPr>
          <p:cNvSpPr txBox="1"/>
          <p:nvPr/>
        </p:nvSpPr>
        <p:spPr>
          <a:xfrm>
            <a:off x="2070570" y="5677943"/>
            <a:ext cx="304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(c) 3D View</a:t>
            </a:r>
          </a:p>
          <a:p>
            <a:pPr algn="ctr"/>
            <a:r>
              <a:rPr lang="en-US" dirty="0"/>
              <a:t>Fig-16: Proposed Antenna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0EBD2-F97B-4531-A4C5-EBC0E459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51" y="817952"/>
            <a:ext cx="2804660" cy="2770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E4B27-2B3C-48A4-B417-624FC75CC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41" y="767520"/>
            <a:ext cx="2895600" cy="28045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523005-29FE-4317-BEA5-162B50CE8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592" y="3616272"/>
            <a:ext cx="2369963" cy="20524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F75B21-F1C3-40AD-B86C-E1468B02C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41" y="1337454"/>
            <a:ext cx="4044877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2" y="6299192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47064" y="-88859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of Rose-Shaped Patch Antenna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4C6A3-1038-464F-BBEA-0EE5E8A37DD2}"/>
              </a:ext>
            </a:extLst>
          </p:cNvPr>
          <p:cNvSpPr txBox="1"/>
          <p:nvPr/>
        </p:nvSpPr>
        <p:spPr>
          <a:xfrm>
            <a:off x="1324728" y="320308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Fig-17: S11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61FD5-59DA-486C-A4D7-97679B15396E}"/>
              </a:ext>
            </a:extLst>
          </p:cNvPr>
          <p:cNvSpPr txBox="1"/>
          <p:nvPr/>
        </p:nvSpPr>
        <p:spPr>
          <a:xfrm>
            <a:off x="4762130" y="3198595"/>
            <a:ext cx="228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Fig-18: VSWR Curve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4F6CC-201F-4C06-AA91-5B42E1F15F64}"/>
              </a:ext>
            </a:extLst>
          </p:cNvPr>
          <p:cNvSpPr txBox="1"/>
          <p:nvPr/>
        </p:nvSpPr>
        <p:spPr>
          <a:xfrm>
            <a:off x="466027" y="5928913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Fig-19: Gain &amp; Directivity VS Frequency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C3B6FD-E40F-478A-A7E2-A09413DE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28" y="647975"/>
            <a:ext cx="3693228" cy="2596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CDA80F-A92B-404A-8908-194C33A50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985" y="647974"/>
            <a:ext cx="3352473" cy="2601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AD41E8-9B08-441A-B794-B2D15EE37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26" y="3560838"/>
            <a:ext cx="3546202" cy="23942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40E639-30D0-42DB-8F77-6221B8635FB5}"/>
              </a:ext>
            </a:extLst>
          </p:cNvPr>
          <p:cNvSpPr txBox="1"/>
          <p:nvPr/>
        </p:nvSpPr>
        <p:spPr>
          <a:xfrm>
            <a:off x="3875390" y="5908814"/>
            <a:ext cx="4005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Fig-20: Radiation Efficiency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9952AB-1647-461C-8B20-2CCF2FEF4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9256" y="3555811"/>
            <a:ext cx="3546202" cy="232972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DA4548-175A-451B-9F52-B87CE6850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20624"/>
              </p:ext>
            </p:extLst>
          </p:nvPr>
        </p:nvGraphicFramePr>
        <p:xfrm>
          <a:off x="7821004" y="890483"/>
          <a:ext cx="3790780" cy="4611622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595784">
                  <a:extLst>
                    <a:ext uri="{9D8B030D-6E8A-4147-A177-3AD203B41FA5}">
                      <a16:colId xmlns:a16="http://schemas.microsoft.com/office/drawing/2014/main" val="1343447352"/>
                    </a:ext>
                  </a:extLst>
                </a:gridCol>
                <a:gridCol w="1194996">
                  <a:extLst>
                    <a:ext uri="{9D8B030D-6E8A-4147-A177-3AD203B41FA5}">
                      <a16:colId xmlns:a16="http://schemas.microsoft.com/office/drawing/2014/main" val="2445181467"/>
                    </a:ext>
                  </a:extLst>
                </a:gridCol>
              </a:tblGrid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Name of the parameter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Value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499173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Return loss (dB)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-57.27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196060"/>
                  </a:ext>
                </a:extLst>
              </a:tr>
              <a:tr h="4600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Resonant frequency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3.19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986684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Gain (dB)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2.81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3982595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Directivity (dBi)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2.55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0113455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-10 dB Bandwidth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3.04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9462000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Lower Cut-off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1529354"/>
                  </a:ext>
                </a:extLst>
              </a:tr>
              <a:tr h="4600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Higher Cut-off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5.74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1285179"/>
                  </a:ext>
                </a:extLst>
              </a:tr>
              <a:tr h="407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VSWR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1.002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7850303"/>
                  </a:ext>
                </a:extLst>
              </a:tr>
              <a:tr h="4965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Maximum Radiation Efficiency (%)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98%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5786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927" y="177834"/>
            <a:ext cx="10995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with Recent Relevant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B2ACED-99B8-4625-9EAD-85E86C41C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29481"/>
              </p:ext>
            </p:extLst>
          </p:nvPr>
        </p:nvGraphicFramePr>
        <p:xfrm>
          <a:off x="1141411" y="982393"/>
          <a:ext cx="9906001" cy="5181601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781006">
                  <a:extLst>
                    <a:ext uri="{9D8B030D-6E8A-4147-A177-3AD203B41FA5}">
                      <a16:colId xmlns:a16="http://schemas.microsoft.com/office/drawing/2014/main" val="1850257816"/>
                    </a:ext>
                  </a:extLst>
                </a:gridCol>
                <a:gridCol w="1422443">
                  <a:extLst>
                    <a:ext uri="{9D8B030D-6E8A-4147-A177-3AD203B41FA5}">
                      <a16:colId xmlns:a16="http://schemas.microsoft.com/office/drawing/2014/main" val="294702538"/>
                    </a:ext>
                  </a:extLst>
                </a:gridCol>
                <a:gridCol w="1422443">
                  <a:extLst>
                    <a:ext uri="{9D8B030D-6E8A-4147-A177-3AD203B41FA5}">
                      <a16:colId xmlns:a16="http://schemas.microsoft.com/office/drawing/2014/main" val="1414511129"/>
                    </a:ext>
                  </a:extLst>
                </a:gridCol>
                <a:gridCol w="1428833">
                  <a:extLst>
                    <a:ext uri="{9D8B030D-6E8A-4147-A177-3AD203B41FA5}">
                      <a16:colId xmlns:a16="http://schemas.microsoft.com/office/drawing/2014/main" val="194587166"/>
                    </a:ext>
                  </a:extLst>
                </a:gridCol>
                <a:gridCol w="1428833">
                  <a:extLst>
                    <a:ext uri="{9D8B030D-6E8A-4147-A177-3AD203B41FA5}">
                      <a16:colId xmlns:a16="http://schemas.microsoft.com/office/drawing/2014/main" val="4110227112"/>
                    </a:ext>
                  </a:extLst>
                </a:gridCol>
                <a:gridCol w="1422443">
                  <a:extLst>
                    <a:ext uri="{9D8B030D-6E8A-4147-A177-3AD203B41FA5}">
                      <a16:colId xmlns:a16="http://schemas.microsoft.com/office/drawing/2014/main" val="179598922"/>
                    </a:ext>
                  </a:extLst>
                </a:gridCol>
              </a:tblGrid>
              <a:tr h="38925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Parameter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Reference No.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This work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8344871"/>
                  </a:ext>
                </a:extLst>
              </a:tr>
              <a:tr h="38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[23]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[24]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[25]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[26]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064307"/>
                  </a:ext>
                </a:extLst>
              </a:tr>
              <a:tr h="4931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Size (L×W) mm</a:t>
                      </a:r>
                      <a:r>
                        <a:rPr lang="en-US" sz="1800" baseline="30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20×28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58×78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28×40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24×30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20×35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1016855"/>
                  </a:ext>
                </a:extLst>
              </a:tr>
              <a:tr h="852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Substrate material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PET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FR4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8981474"/>
                  </a:ext>
                </a:extLst>
              </a:tr>
              <a:tr h="7178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Centre frequency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5.2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3.83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3.19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6074790"/>
                  </a:ext>
                </a:extLst>
              </a:tr>
              <a:tr h="661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Return loss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-23.5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-31.15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-41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-57.27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9577824"/>
                  </a:ext>
                </a:extLst>
              </a:tr>
              <a:tr h="611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2.36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2.81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9560966"/>
                  </a:ext>
                </a:extLst>
              </a:tr>
              <a:tr h="629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BW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2.77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2.08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0.7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3.04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5384573"/>
                  </a:ext>
                </a:extLst>
              </a:tr>
              <a:tr h="43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Efficiency (%)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65.35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----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67.22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95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885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29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9589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47064" y="28705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Plus-Shaped patch antenna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8634882" y="670675"/>
            <a:ext cx="3247705" cy="38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summary of the PSPA:</a:t>
            </a:r>
            <a:endParaRPr lang="en-US" sz="1900" dirty="0"/>
          </a:p>
        </p:txBody>
      </p:sp>
      <p:sp>
        <p:nvSpPr>
          <p:cNvPr id="21" name="Text Box 20"/>
          <p:cNvSpPr txBox="1"/>
          <p:nvPr/>
        </p:nvSpPr>
        <p:spPr>
          <a:xfrm>
            <a:off x="7875441" y="4519215"/>
            <a:ext cx="4044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Substrate-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Rogers RT5880 (lossy),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Dielectric constant – 2.2 and Tangent loss – 0.0009. T= 0.79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Copper (annealed), T=0.035 mm.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CST Microwave Studio Suite.</a:t>
            </a:r>
          </a:p>
          <a:p>
            <a:pPr marL="285750" indent="-285750">
              <a:buSzPct val="150000"/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TD and FD Solver.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47363-606E-4B05-A90C-38A40F443218}"/>
              </a:ext>
            </a:extLst>
          </p:cNvPr>
          <p:cNvSpPr txBox="1"/>
          <p:nvPr/>
        </p:nvSpPr>
        <p:spPr>
          <a:xfrm>
            <a:off x="744830" y="3497513"/>
            <a:ext cx="166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 Front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E7C8A-01A4-46F3-B27C-09F7BC7FEE23}"/>
              </a:ext>
            </a:extLst>
          </p:cNvPr>
          <p:cNvSpPr txBox="1"/>
          <p:nvPr/>
        </p:nvSpPr>
        <p:spPr>
          <a:xfrm>
            <a:off x="5042211" y="3510544"/>
            <a:ext cx="169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 Back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CEADF-5D4A-4183-A148-AB4E2F1D6C0C}"/>
              </a:ext>
            </a:extLst>
          </p:cNvPr>
          <p:cNvSpPr txBox="1"/>
          <p:nvPr/>
        </p:nvSpPr>
        <p:spPr>
          <a:xfrm>
            <a:off x="2398790" y="6002497"/>
            <a:ext cx="304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Fig-21: Proposed Antenna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C5D881-D4BF-47F4-8316-DF40B5A967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9" t="5137" r="7903" b="3513"/>
          <a:stretch/>
        </p:blipFill>
        <p:spPr>
          <a:xfrm>
            <a:off x="525306" y="675036"/>
            <a:ext cx="2119214" cy="28612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45136B-C385-4A24-A8E8-38C9198E5A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4" t="-474" r="10316" b="7249"/>
          <a:stretch/>
        </p:blipFill>
        <p:spPr>
          <a:xfrm>
            <a:off x="4901262" y="646956"/>
            <a:ext cx="1981200" cy="2889365"/>
          </a:xfrm>
          <a:prstGeom prst="rect">
            <a:avLst/>
          </a:prstGeom>
        </p:spPr>
      </p:pic>
      <p:pic>
        <p:nvPicPr>
          <p:cNvPr id="18" name="image6.png">
            <a:extLst>
              <a:ext uri="{FF2B5EF4-FFF2-40B4-BE49-F238E27FC236}">
                <a16:creationId xmlns:a16="http://schemas.microsoft.com/office/drawing/2014/main" id="{4DD306FA-C3CF-43C4-8DFA-7F06D900F190}"/>
              </a:ext>
            </a:extLst>
          </p:cNvPr>
          <p:cNvPicPr/>
          <p:nvPr/>
        </p:nvPicPr>
        <p:blipFill rotWithShape="1">
          <a:blip r:embed="rId4"/>
          <a:srcRect t="3335" b="6579"/>
          <a:stretch/>
        </p:blipFill>
        <p:spPr bwMode="auto">
          <a:xfrm>
            <a:off x="916998" y="3871233"/>
            <a:ext cx="1802063" cy="1961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EA91C6-2FE1-43CE-9945-A624B76A69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562906"/>
                  </p:ext>
                </p:extLst>
              </p:nvPr>
            </p:nvGraphicFramePr>
            <p:xfrm>
              <a:off x="8106293" y="1113029"/>
              <a:ext cx="3814025" cy="3119916"/>
            </p:xfrm>
            <a:graphic>
              <a:graphicData uri="http://schemas.openxmlformats.org/drawingml/2006/table">
                <a:tbl>
                  <a:tblPr bandRow="1">
                    <a:tableStyleId>{5940675A-B579-460E-94D1-54222C63F5DA}</a:tableStyleId>
                  </a:tblPr>
                  <a:tblGrid>
                    <a:gridCol w="2750442">
                      <a:extLst>
                        <a:ext uri="{9D8B030D-6E8A-4147-A177-3AD203B41FA5}">
                          <a16:colId xmlns:a16="http://schemas.microsoft.com/office/drawing/2014/main" val="2854640680"/>
                        </a:ext>
                      </a:extLst>
                    </a:gridCol>
                    <a:gridCol w="1063583">
                      <a:extLst>
                        <a:ext uri="{9D8B030D-6E8A-4147-A177-3AD203B41FA5}">
                          <a16:colId xmlns:a16="http://schemas.microsoft.com/office/drawing/2014/main" val="3501631364"/>
                        </a:ext>
                      </a:extLst>
                    </a:gridCol>
                  </a:tblGrid>
                  <a:tr h="2634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b="1" dirty="0">
                              <a:effectLst/>
                            </a:rPr>
                            <a:t>Description and symbol</a:t>
                          </a:r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b="1" dirty="0">
                              <a:effectLst/>
                            </a:rPr>
                            <a:t>Value (mm)</a:t>
                          </a:r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4152248010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Substrate’s length (L)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35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78544238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Substrate’s width (W)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20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170337355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Feeder length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effectLst/>
                            </a:rPr>
                            <a:t>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12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969714041"/>
                      </a:ext>
                    </a:extLst>
                  </a:tr>
                  <a:tr h="38042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Feeder width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effectLst/>
                            </a:rPr>
                            <a:t>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2.3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184909364"/>
                      </a:ext>
                    </a:extLst>
                  </a:tr>
                  <a:tr h="5380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 Horizontal edge length of patch (L</a:t>
                          </a:r>
                          <a:r>
                            <a:rPr lang="en-US" sz="1600" baseline="-25000">
                              <a:effectLst/>
                            </a:rPr>
                            <a:t>2</a:t>
                          </a:r>
                          <a:r>
                            <a:rPr lang="en-US" sz="1600">
                              <a:effectLst/>
                            </a:rPr>
                            <a:t>)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10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2773433303"/>
                      </a:ext>
                    </a:extLst>
                  </a:tr>
                  <a:tr h="34155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Vertical edge width of patch (W</a:t>
                          </a:r>
                          <a:r>
                            <a:rPr lang="en-US" sz="1600" baseline="-25000">
                              <a:effectLst/>
                            </a:rPr>
                            <a:t>1</a:t>
                          </a:r>
                          <a:r>
                            <a:rPr lang="en-US" sz="1600">
                              <a:effectLst/>
                            </a:rPr>
                            <a:t>)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10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31113852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EA91C6-2FE1-43CE-9945-A624B76A69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562906"/>
                  </p:ext>
                </p:extLst>
              </p:nvPr>
            </p:nvGraphicFramePr>
            <p:xfrm>
              <a:off x="8106293" y="1113029"/>
              <a:ext cx="3814025" cy="3119916"/>
            </p:xfrm>
            <a:graphic>
              <a:graphicData uri="http://schemas.openxmlformats.org/drawingml/2006/table">
                <a:tbl>
                  <a:tblPr bandRow="1">
                    <a:tableStyleId>{5940675A-B579-460E-94D1-54222C63F5DA}</a:tableStyleId>
                  </a:tblPr>
                  <a:tblGrid>
                    <a:gridCol w="2750442">
                      <a:extLst>
                        <a:ext uri="{9D8B030D-6E8A-4147-A177-3AD203B41FA5}">
                          <a16:colId xmlns:a16="http://schemas.microsoft.com/office/drawing/2014/main" val="2854640680"/>
                        </a:ext>
                      </a:extLst>
                    </a:gridCol>
                    <a:gridCol w="1063583">
                      <a:extLst>
                        <a:ext uri="{9D8B030D-6E8A-4147-A177-3AD203B41FA5}">
                          <a16:colId xmlns:a16="http://schemas.microsoft.com/office/drawing/2014/main" val="3501631364"/>
                        </a:ext>
                      </a:extLst>
                    </a:gridCol>
                  </a:tblGrid>
                  <a:tr h="5443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b="1" dirty="0">
                              <a:effectLst/>
                            </a:rPr>
                            <a:t>Description and symbol</a:t>
                          </a:r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b="1" dirty="0">
                              <a:effectLst/>
                            </a:rPr>
                            <a:t>Value (mm)</a:t>
                          </a:r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4152248010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Substrate’s length (L)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35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78544238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Substrate’s width (W)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20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170337355"/>
                      </a:ext>
                    </a:extLst>
                  </a:tr>
                  <a:tr h="3688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15" marR="67115" marT="0" marB="0" anchor="ctr">
                        <a:blipFill>
                          <a:blip r:embed="rId5"/>
                          <a:stretch>
                            <a:fillRect l="-221" t="-361667" r="-39159" b="-43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12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969714041"/>
                      </a:ext>
                    </a:extLst>
                  </a:tr>
                  <a:tr h="3804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15" marR="67115" marT="0" marB="0" anchor="ctr">
                        <a:blipFill>
                          <a:blip r:embed="rId5"/>
                          <a:stretch>
                            <a:fillRect l="-221" t="-439683" r="-39159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2.3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184909364"/>
                      </a:ext>
                    </a:extLst>
                  </a:tr>
                  <a:tr h="5443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 Horizontal edge length of patch (L</a:t>
                          </a:r>
                          <a:r>
                            <a:rPr lang="en-US" sz="1600" baseline="-25000">
                              <a:effectLst/>
                            </a:rPr>
                            <a:t>2</a:t>
                          </a:r>
                          <a:r>
                            <a:rPr lang="en-US" sz="1600">
                              <a:effectLst/>
                            </a:rPr>
                            <a:t>)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10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2773433303"/>
                      </a:ext>
                    </a:extLst>
                  </a:tr>
                  <a:tr h="5443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Vertical edge width of patch (W</a:t>
                          </a:r>
                          <a:r>
                            <a:rPr lang="en-US" sz="1600" baseline="-25000">
                              <a:effectLst/>
                            </a:rPr>
                            <a:t>1</a:t>
                          </a:r>
                          <a:r>
                            <a:rPr lang="en-US" sz="1600">
                              <a:effectLst/>
                            </a:rPr>
                            <a:t>)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10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115" marR="67115" marT="0" marB="0" anchor="ctr"/>
                    </a:tc>
                    <a:extLst>
                      <a:ext uri="{0D108BD9-81ED-4DB2-BD59-A6C34878D82A}">
                        <a16:rowId xmlns:a16="http://schemas.microsoft.com/office/drawing/2014/main" val="31113852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3A76333-D067-44D6-9196-157C9918F54A}"/>
              </a:ext>
            </a:extLst>
          </p:cNvPr>
          <p:cNvSpPr txBox="1"/>
          <p:nvPr/>
        </p:nvSpPr>
        <p:spPr>
          <a:xfrm>
            <a:off x="482515" y="58134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(c) 3D View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3EDA7-5AFB-496F-8E5E-103C80D5E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552" y="4078595"/>
            <a:ext cx="2436459" cy="1465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DAEEEF-DBC1-4CDD-A827-56E9A21EBEC9}"/>
              </a:ext>
            </a:extLst>
          </p:cNvPr>
          <p:cNvSpPr txBox="1"/>
          <p:nvPr/>
        </p:nvSpPr>
        <p:spPr>
          <a:xfrm>
            <a:off x="4658687" y="5648255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(d) Amplified slot</a:t>
            </a:r>
          </a:p>
        </p:txBody>
      </p:sp>
    </p:spTree>
    <p:extLst>
      <p:ext uri="{BB962C8B-B14F-4D97-AF65-F5344CB8AC3E}">
        <p14:creationId xmlns:p14="http://schemas.microsoft.com/office/powerpoint/2010/main" val="463089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04079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56812" y="6364416"/>
            <a:ext cx="1311683" cy="365125"/>
          </a:xfrm>
        </p:spPr>
        <p:txBody>
          <a:bodyPr/>
          <a:lstStyle/>
          <a:p>
            <a:fld id="{B179BDF8-8300-4086-A4D1-E9D9DF2D84C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652969" y="-29854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of Plus-Shaped Patch Antenna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4C6A3-1038-464F-BBEA-0EE5E8A37DD2}"/>
              </a:ext>
            </a:extLst>
          </p:cNvPr>
          <p:cNvSpPr txBox="1"/>
          <p:nvPr/>
        </p:nvSpPr>
        <p:spPr>
          <a:xfrm>
            <a:off x="1326832" y="31078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Fig-22: S11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61FD5-59DA-486C-A4D7-97679B15396E}"/>
              </a:ext>
            </a:extLst>
          </p:cNvPr>
          <p:cNvSpPr txBox="1"/>
          <p:nvPr/>
        </p:nvSpPr>
        <p:spPr>
          <a:xfrm>
            <a:off x="4907010" y="3097518"/>
            <a:ext cx="228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Fig-23: VSWR Curve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4F6CC-201F-4C06-AA91-5B42E1F15F64}"/>
              </a:ext>
            </a:extLst>
          </p:cNvPr>
          <p:cNvSpPr txBox="1"/>
          <p:nvPr/>
        </p:nvSpPr>
        <p:spPr>
          <a:xfrm>
            <a:off x="406605" y="5926391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Fig-24: Gain &amp; Directivity VS Frequency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5F378F-03B0-4598-9740-FA791D922B0C}"/>
              </a:ext>
            </a:extLst>
          </p:cNvPr>
          <p:cNvSpPr txBox="1"/>
          <p:nvPr/>
        </p:nvSpPr>
        <p:spPr>
          <a:xfrm>
            <a:off x="4190460" y="5956148"/>
            <a:ext cx="35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Fig-25: Radiation Efficiency.</a:t>
            </a:r>
          </a:p>
        </p:txBody>
      </p:sp>
      <p:pic>
        <p:nvPicPr>
          <p:cNvPr id="18" name="image8.png">
            <a:extLst>
              <a:ext uri="{FF2B5EF4-FFF2-40B4-BE49-F238E27FC236}">
                <a16:creationId xmlns:a16="http://schemas.microsoft.com/office/drawing/2014/main" id="{8E498BFF-6D79-440D-B9F3-B42FBD0D5E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007" y="648885"/>
            <a:ext cx="4138802" cy="2413818"/>
          </a:xfrm>
          <a:prstGeom prst="rect">
            <a:avLst/>
          </a:prstGeom>
          <a:ln/>
        </p:spPr>
      </p:pic>
      <p:pic>
        <p:nvPicPr>
          <p:cNvPr id="19" name="image11.png">
            <a:extLst>
              <a:ext uri="{FF2B5EF4-FFF2-40B4-BE49-F238E27FC236}">
                <a16:creationId xmlns:a16="http://schemas.microsoft.com/office/drawing/2014/main" id="{20B54BB2-2808-43E4-952B-D8D6EBD0C8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4152" y="3571031"/>
            <a:ext cx="4067175" cy="2162175"/>
          </a:xfrm>
          <a:prstGeom prst="rect">
            <a:avLst/>
          </a:prstGeom>
          <a:ln/>
        </p:spPr>
      </p:pic>
      <p:pic>
        <p:nvPicPr>
          <p:cNvPr id="20" name="image10.png">
            <a:extLst>
              <a:ext uri="{FF2B5EF4-FFF2-40B4-BE49-F238E27FC236}">
                <a16:creationId xmlns:a16="http://schemas.microsoft.com/office/drawing/2014/main" id="{32AEB788-8DBD-4A96-9896-18ACB1D4CDD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76808" y="661663"/>
            <a:ext cx="3746404" cy="2476146"/>
          </a:xfrm>
          <a:prstGeom prst="rect">
            <a:avLst/>
          </a:prstGeom>
          <a:ln/>
        </p:spPr>
      </p:pic>
      <p:pic>
        <p:nvPicPr>
          <p:cNvPr id="21" name="image2.png">
            <a:extLst>
              <a:ext uri="{FF2B5EF4-FFF2-40B4-BE49-F238E27FC236}">
                <a16:creationId xmlns:a16="http://schemas.microsoft.com/office/drawing/2014/main" id="{5EC9FEAD-8775-4409-832B-BD20E81F4BA6}"/>
              </a:ext>
            </a:extLst>
          </p:cNvPr>
          <p:cNvPicPr/>
          <p:nvPr/>
        </p:nvPicPr>
        <p:blipFill rotWithShape="1">
          <a:blip r:embed="rId5"/>
          <a:srcRect l="2573"/>
          <a:stretch/>
        </p:blipFill>
        <p:spPr>
          <a:xfrm>
            <a:off x="4186923" y="3467019"/>
            <a:ext cx="3886199" cy="2343121"/>
          </a:xfrm>
          <a:prstGeom prst="rect">
            <a:avLst/>
          </a:prstGeom>
          <a:ln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E22B03-A917-48A1-A590-E10384072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26795"/>
              </p:ext>
            </p:extLst>
          </p:nvPr>
        </p:nvGraphicFramePr>
        <p:xfrm>
          <a:off x="8452629" y="861693"/>
          <a:ext cx="3489372" cy="4948447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449778">
                  <a:extLst>
                    <a:ext uri="{9D8B030D-6E8A-4147-A177-3AD203B41FA5}">
                      <a16:colId xmlns:a16="http://schemas.microsoft.com/office/drawing/2014/main" val="3023236603"/>
                    </a:ext>
                  </a:extLst>
                </a:gridCol>
                <a:gridCol w="1039594">
                  <a:extLst>
                    <a:ext uri="{9D8B030D-6E8A-4147-A177-3AD203B41FA5}">
                      <a16:colId xmlns:a16="http://schemas.microsoft.com/office/drawing/2014/main" val="2866766822"/>
                    </a:ext>
                  </a:extLst>
                </a:gridCol>
              </a:tblGrid>
              <a:tr h="376647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Name of Parameters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Value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862288"/>
                  </a:ext>
                </a:extLst>
              </a:tr>
              <a:tr h="376647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Lower cut off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2.67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2163130"/>
                  </a:ext>
                </a:extLst>
              </a:tr>
              <a:tr h="425208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Upper cut off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5.23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3102125"/>
                  </a:ext>
                </a:extLst>
              </a:tr>
              <a:tr h="410712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-10 dB Bandwidth (GHz)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2.56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184075"/>
                  </a:ext>
                </a:extLst>
              </a:tr>
              <a:tr h="410712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Resonant frequency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6645128"/>
                  </a:ext>
                </a:extLst>
              </a:tr>
              <a:tr h="410712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Return loss (dB)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-52.06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196759"/>
                  </a:ext>
                </a:extLst>
              </a:tr>
              <a:tr h="410712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VSWR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1.005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0322704"/>
                  </a:ext>
                </a:extLst>
              </a:tr>
              <a:tr h="425208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Maximum gain (dB)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4.65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9340649"/>
                  </a:ext>
                </a:extLst>
              </a:tr>
              <a:tr h="410712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Maximum directivity (dBi)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4.95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4808982"/>
                  </a:ext>
                </a:extLst>
              </a:tr>
              <a:tr h="686131"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Maximum radiation efficiency (%)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13716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98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6116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289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927" y="177834"/>
            <a:ext cx="10995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with Recent Relevant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Pabna-6600, Bangladesh.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38642E-775B-4DA1-8060-520D649D5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36981"/>
              </p:ext>
            </p:extLst>
          </p:nvPr>
        </p:nvGraphicFramePr>
        <p:xfrm>
          <a:off x="1174636" y="1014360"/>
          <a:ext cx="9839551" cy="502920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318095">
                  <a:extLst>
                    <a:ext uri="{9D8B030D-6E8A-4147-A177-3AD203B41FA5}">
                      <a16:colId xmlns:a16="http://schemas.microsoft.com/office/drawing/2014/main" val="2670879284"/>
                    </a:ext>
                  </a:extLst>
                </a:gridCol>
                <a:gridCol w="1425835">
                  <a:extLst>
                    <a:ext uri="{9D8B030D-6E8A-4147-A177-3AD203B41FA5}">
                      <a16:colId xmlns:a16="http://schemas.microsoft.com/office/drawing/2014/main" val="4259483288"/>
                    </a:ext>
                  </a:extLst>
                </a:gridCol>
                <a:gridCol w="1620493">
                  <a:extLst>
                    <a:ext uri="{9D8B030D-6E8A-4147-A177-3AD203B41FA5}">
                      <a16:colId xmlns:a16="http://schemas.microsoft.com/office/drawing/2014/main" val="1625596683"/>
                    </a:ext>
                  </a:extLst>
                </a:gridCol>
                <a:gridCol w="1620493">
                  <a:extLst>
                    <a:ext uri="{9D8B030D-6E8A-4147-A177-3AD203B41FA5}">
                      <a16:colId xmlns:a16="http://schemas.microsoft.com/office/drawing/2014/main" val="3468777305"/>
                    </a:ext>
                  </a:extLst>
                </a:gridCol>
                <a:gridCol w="1428800">
                  <a:extLst>
                    <a:ext uri="{9D8B030D-6E8A-4147-A177-3AD203B41FA5}">
                      <a16:colId xmlns:a16="http://schemas.microsoft.com/office/drawing/2014/main" val="2382517949"/>
                    </a:ext>
                  </a:extLst>
                </a:gridCol>
                <a:gridCol w="1425835">
                  <a:extLst>
                    <a:ext uri="{9D8B030D-6E8A-4147-A177-3AD203B41FA5}">
                      <a16:colId xmlns:a16="http://schemas.microsoft.com/office/drawing/2014/main" val="1705657623"/>
                    </a:ext>
                  </a:extLst>
                </a:gridCol>
              </a:tblGrid>
              <a:tr h="323595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Parameter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Reference No.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This work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465712"/>
                  </a:ext>
                </a:extLst>
              </a:tr>
              <a:tr h="3235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[27]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[28]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[29]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[30]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516231"/>
                  </a:ext>
                </a:extLst>
              </a:tr>
              <a:tr h="46717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Size (L×W) mm</a:t>
                      </a:r>
                      <a:r>
                        <a:rPr lang="en-US" sz="1800" baseline="300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 × 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20× 30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36×31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46×26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20×35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9902884"/>
                  </a:ext>
                </a:extLst>
              </a:tr>
              <a:tr h="658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Substrate material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FR4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FR4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Rogers RT 5880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5040136"/>
                  </a:ext>
                </a:extLst>
              </a:tr>
              <a:tr h="8397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Centre frequency (GHz)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4.71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3.3 and 4.5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3.5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3.12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5858163"/>
                  </a:ext>
                </a:extLst>
              </a:tr>
              <a:tr h="57362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Return loss (dB)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-32.6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-22 and -23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-20.44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-52.06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4050150"/>
                  </a:ext>
                </a:extLst>
              </a:tr>
              <a:tr h="520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Maximum Gain (dB)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2.69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7.17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4.42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4.65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4165346"/>
                  </a:ext>
                </a:extLst>
              </a:tr>
              <a:tr h="53577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BW (GHz)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2.77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0.34 and 0.81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2.15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2.56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705081"/>
                  </a:ext>
                </a:extLst>
              </a:tr>
              <a:tr h="7865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>
                          <a:effectLst/>
                        </a:rPr>
                        <a:t>Maximum Efficiency (%)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87.13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79.6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≈ 80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-----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800" dirty="0">
                          <a:effectLst/>
                        </a:rPr>
                        <a:t>98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08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285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285388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97661" y="163221"/>
            <a:ext cx="108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Summarization of the Research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096795-EC45-429F-917E-A6E38062A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767326"/>
              </p:ext>
            </p:extLst>
          </p:nvPr>
        </p:nvGraphicFramePr>
        <p:xfrm>
          <a:off x="1253908" y="955830"/>
          <a:ext cx="9982202" cy="514017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553529">
                  <a:extLst>
                    <a:ext uri="{9D8B030D-6E8A-4147-A177-3AD203B41FA5}">
                      <a16:colId xmlns:a16="http://schemas.microsoft.com/office/drawing/2014/main" val="2253569401"/>
                    </a:ext>
                  </a:extLst>
                </a:gridCol>
                <a:gridCol w="1362427">
                  <a:extLst>
                    <a:ext uri="{9D8B030D-6E8A-4147-A177-3AD203B41FA5}">
                      <a16:colId xmlns:a16="http://schemas.microsoft.com/office/drawing/2014/main" val="3198985657"/>
                    </a:ext>
                  </a:extLst>
                </a:gridCol>
                <a:gridCol w="1362427">
                  <a:extLst>
                    <a:ext uri="{9D8B030D-6E8A-4147-A177-3AD203B41FA5}">
                      <a16:colId xmlns:a16="http://schemas.microsoft.com/office/drawing/2014/main" val="4208553549"/>
                    </a:ext>
                  </a:extLst>
                </a:gridCol>
                <a:gridCol w="1369564">
                  <a:extLst>
                    <a:ext uri="{9D8B030D-6E8A-4147-A177-3AD203B41FA5}">
                      <a16:colId xmlns:a16="http://schemas.microsoft.com/office/drawing/2014/main" val="1972839072"/>
                    </a:ext>
                  </a:extLst>
                </a:gridCol>
                <a:gridCol w="1626549">
                  <a:extLst>
                    <a:ext uri="{9D8B030D-6E8A-4147-A177-3AD203B41FA5}">
                      <a16:colId xmlns:a16="http://schemas.microsoft.com/office/drawing/2014/main" val="1368343890"/>
                    </a:ext>
                  </a:extLst>
                </a:gridCol>
                <a:gridCol w="1707706">
                  <a:extLst>
                    <a:ext uri="{9D8B030D-6E8A-4147-A177-3AD203B41FA5}">
                      <a16:colId xmlns:a16="http://schemas.microsoft.com/office/drawing/2014/main" val="3284866957"/>
                    </a:ext>
                  </a:extLst>
                </a:gridCol>
              </a:tblGrid>
              <a:tr h="24710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endParaRPr lang="en-US" sz="1500" b="1" dirty="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PARAMETER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>
                          <a:effectLst/>
                        </a:rPr>
                        <a:t>CHAPTER NUMBER</a:t>
                      </a:r>
                      <a:endParaRPr lang="en-US" sz="1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112201"/>
                  </a:ext>
                </a:extLst>
              </a:tr>
              <a:tr h="5096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3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(Slotted)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4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(DGS)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5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(Spiral)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6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(Rose)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7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(Plus)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4035411564"/>
                  </a:ext>
                </a:extLst>
              </a:tr>
              <a:tr h="3277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Size (L×W) mm</a:t>
                      </a:r>
                      <a:r>
                        <a:rPr lang="en-US" sz="1500" b="1" baseline="30000" dirty="0">
                          <a:effectLst/>
                        </a:rPr>
                        <a:t>2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20×20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20×20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20×20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20×35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20×35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1022826030"/>
                  </a:ext>
                </a:extLst>
              </a:tr>
              <a:tr h="3216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Substrate material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Rogers RT5880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Rogers RT5880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Rogers RT5880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Rogers RT5880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Rogers RT5880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3943508764"/>
                  </a:ext>
                </a:extLst>
              </a:tr>
              <a:tr h="3052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Centre frequency (GHz)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27.47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27.26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3.61 and 5.56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3.19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3.12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1231919646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Return loss (dB)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-35.03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-35.353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-41.29 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-37.85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-57.27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-52.06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2615200131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>
                          <a:effectLst/>
                        </a:rPr>
                        <a:t>Gain (dB)</a:t>
                      </a:r>
                      <a:endParaRPr lang="en-US" sz="1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6.1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3.95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5.44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4.65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1722892257"/>
                  </a:ext>
                </a:extLst>
              </a:tr>
              <a:tr h="307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Directivity (dBi)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7.8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7.9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4.95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3845175181"/>
                  </a:ext>
                </a:extLst>
              </a:tr>
              <a:tr h="471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BW (GHz)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4.846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5.85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0.166 and 2.53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3.04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2.56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308032184"/>
                  </a:ext>
                </a:extLst>
              </a:tr>
              <a:tr h="2471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Efficiency (%)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77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66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83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98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>
                          <a:effectLst/>
                        </a:rPr>
                        <a:t>98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2753819811"/>
                  </a:ext>
                </a:extLst>
              </a:tr>
              <a:tr h="7146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Applications 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5G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(mm-wave)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5G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(mm-wave)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5G (Sub-6 GHz), WiFi-5/6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Sub-6 GHz, 5G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dirty="0">
                          <a:effectLst/>
                        </a:rPr>
                        <a:t>Sub-6 GHz, WiMAX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2357244884"/>
                  </a:ext>
                </a:extLst>
              </a:tr>
              <a:tr h="8498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b="1" dirty="0">
                          <a:effectLst/>
                        </a:rPr>
                        <a:t>Comments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 Wideband, 28 GHz 5G, Patch antenna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Low Profile, Microstrip Patch 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Dual Band, Miniatu-rized, RT5880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Ground Slot, Wideband, Omni-directional 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1500" dirty="0">
                          <a:effectLst/>
                        </a:rPr>
                        <a:t>Slotted, DGS, High efficiency, PSPA 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05" marR="52605" marT="0" marB="0"/>
                </a:tc>
                <a:extLst>
                  <a:ext uri="{0D108BD9-81ED-4DB2-BD59-A6C34878D82A}">
                    <a16:rowId xmlns:a16="http://schemas.microsoft.com/office/drawing/2014/main" val="1218032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05" y="345787"/>
            <a:ext cx="7821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74812" y="1362538"/>
            <a:ext cx="90868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Parametric study of different shaped planar antennas.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CST Microwave Studio Suite is used to design and simulate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 shapes and defected ground structure (DGS) are introduced to optimize.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DGS helps to improve the bandwidth and gain.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 shapes facilitate proper current distribution and omnidirectional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radition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These antennas can operate in Sub-6 GHz and mm-wave bands.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shows wider bandwidth, high gain, and directivity with very good reflection coefficients.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Suitable candidates for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handheld wireless applications.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05" y="345787"/>
            <a:ext cx="7821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Recommendation for Future Work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98612" y="1752600"/>
            <a:ext cx="8686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The 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ize of these antennas can be reduced more by further optimization.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plit-ring resonators, parasitic elements and different types of slots can be introduced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to get more optimized performance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ame methodology can be applied in MIMO, UWB antennas.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Machine learning can be added to them.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Highly optimized antennas can used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AI, Bio-medical and space applications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600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05" y="345787"/>
            <a:ext cx="7821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Wingdings" panose="05000000000000000000" pitchFamily="2" charset="2"/>
              <a:buNone/>
            </a:pPr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Appendix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41662" y="1243786"/>
            <a:ext cx="986790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2057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 of Publications: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057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Wideband Microstrip Patch Antenna with Slotted Ground Plane for 5G Application,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of conference: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Conference on Science &amp; Contemporary Technologies (ICSCT), 2021, pp. 1-5,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10.1109/ICSCT53883.2021.9642597,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Publisher: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057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Low Profile Microstrip Patch Antenna with DGS for 5G Application,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of conference: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Conference on Science &amp; Contemporary Technologies (ICSCT), 2021, pp. 1-5,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10.1109/ICSCT53883.2021.9642644.,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Publisher: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IEEE.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057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Dual Band Miniaturized Spiral-shaped Patch Antenna for 5G and WiFi-5/6 Applications,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of conference: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Conference on Signal Processing, Information, Communication and Systems (SPICSCON),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Publisher: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IEEE.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2057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Wideband Rose-shaped Patch Antenna with a Ground Slot for Sub-6 GHz Applications,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of conference: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Indian Conference on Antennas and Propagation (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InCAP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2021, pp. 901-904,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10.1109/InCAP52216.2021.9726293,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Publisher: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IEEE.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41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60812" y="0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212" y="539139"/>
            <a:ext cx="11582400" cy="610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H.M. Marzouk, M.I. Ahmed, and A.A.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Shaalan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“A Novel Dual-band 28/38 GHz slotted microstrip MIMO antenna for 5G mobile applications,” Proceedings of the International Symposium on Antennas and Propagation and USNC-URSI Radio Science Meeting, 2019, pp. 607-608.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Han, G. Huang, T. Yuan, and C. Sim, “A Dual-Band Millimeter-Wave Antenna for 5G Mobile Applications,” Proceedings of the IEEE International Symposium on Antennas and Propagation and USNC-URSI Radio Science Meeting, 2019.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J. L. Li, M. H. Luo, and H. Liu, “Design of a slot antenna for future 5G wireless communication systems,” Proceedings of the Progress In Electromagnetics Research Symposium 2017, pp. 739-741.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 Xiao, X. Lin, and Y.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“Dual-band structure-shared antenna with large frequency ratio for 5G communication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applications,”IEEE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Antennas and Wireless Propagation Letters, vol. 19, no. 12, pp. 2339-2343, Dec. 2020.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R. Azim et al., “A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multislotted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antenna for LTE/5G Sub-6 GHz wireless communication applications,” Int’l Journal of Microwave and Wireless Technologies, vol. 13, no. 5, pp.486– 496, 2021.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R. Azim, R.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Akter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A.K.M.M.H. Siddique, L. C. Paul, M.T. Islam, “Circular patch planar ultra-wideband antenna for 5G sub-6 GHz wireless communication applications,” Journal of Optoelectronics and Advanced Materials, Vol. 23, no. 3-4, pp. 127-133, 2021.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K. Gautam, L. Kumar, B. K.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Kanaujia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K. Rambabu, "Design of Compact F-Shaped Slot Triple-Band Antenna for WLAN/WiMAX Applications," in IEEE Transactions on Antennas and Propagation, vol. 64, no. 3, pp. 1101-1105, March 2016,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10.1109/TAP.2015.2513099.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60812" y="0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212" y="539139"/>
            <a:ext cx="11582400" cy="6443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[8] A. Kapoor, R. Mishra and P. Kumar, "Compact wideband-printed antenna for sub-6 GHz fifth generation applications", Int. Journal on Smart Sensing and Intelligent Systems, vol 13, no 1, pp. 1-10, 2020.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[9] J. Kulkarni and C. Y. D. Sim, "Wideband CPW-Fed Oval-Shaped Monopole Antenna for WiFi5 and Wi-Fi6 Applications," Progress In Electromagnetics Research C, vol. 107, pp. 173- 182, 2021.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[10] I. </a:t>
            </a:r>
            <a:r>
              <a:rPr lang="en-US" dirty="0" err="1"/>
              <a:t>Ishteyaq</a:t>
            </a:r>
            <a:r>
              <a:rPr lang="en-US" dirty="0"/>
              <a:t>, I. S. </a:t>
            </a:r>
            <a:r>
              <a:rPr lang="en-US" dirty="0" err="1"/>
              <a:t>Masoodi</a:t>
            </a:r>
            <a:r>
              <a:rPr lang="en-US" dirty="0"/>
              <a:t> and K. Muzaffar, “A compact double-band planar printed slot antenna for sub-6 GHz 5G wireless applications,” Int. Journal of Microwave and Wireless Technologies, vol 13, no 5, pp. 469 - 477, 2020.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[11] M.I. Ahmed, H.M. Marzouk, and A. </a:t>
            </a:r>
            <a:r>
              <a:rPr lang="en-US" dirty="0" err="1"/>
              <a:t>Shaalan</a:t>
            </a:r>
            <a:r>
              <a:rPr lang="en-US" dirty="0"/>
              <a:t>, “A two-element microstrip antenna 28/38 GHz for 5G mobile applications,” Proceedings of the6thInternational Conference on Advanced Control Circuits and Systems &amp; 5th International Conference on New Paradigms in Electronics &amp; Information Technology, 2019, pp. 71-76.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[12] H.M. Marzouk, M.I. Ahmed, and A.A. </a:t>
            </a:r>
            <a:r>
              <a:rPr lang="en-US" dirty="0" err="1"/>
              <a:t>Shaalan</a:t>
            </a:r>
            <a:r>
              <a:rPr lang="en-US" dirty="0"/>
              <a:t>, “A Novel Dual-band 28/38 GHz slotted microstrip MIMO antenna for 5G mobile applications,” Proceedings of the International Symposium on Antennas and Propagation and USNC-URSI Radio Science Meeting, 2019, pp. 607-608.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[13] J. L. Li, M. H. Luo, and H. Liu, “Design of a slot antenna for future 5G wireless communication systems,” Proceedings of the Progress In Electromagnetics Research Symposium 2017, pp. 739-741.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[14] L.C. Paul and M.M. </a:t>
            </a:r>
            <a:r>
              <a:rPr lang="en-US" dirty="0" err="1"/>
              <a:t>Alam</a:t>
            </a:r>
            <a:r>
              <a:rPr lang="en-US" dirty="0"/>
              <a:t>, “Millimeter-wave hexagonal grid microstrip array antenna for 5G communication,” Proceedings of the 3rd International Conference on Electrical Information and Communication Technology 2017, pp. 1-6.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[15] F. Xiao, X. Lin, and Y. </a:t>
            </a:r>
            <a:r>
              <a:rPr lang="en-US" dirty="0" err="1"/>
              <a:t>Su</a:t>
            </a:r>
            <a:r>
              <a:rPr lang="en-US" dirty="0"/>
              <a:t>, “Dual-band structure-shared antenna with large frequency ratio for 5G communication </a:t>
            </a:r>
            <a:r>
              <a:rPr lang="en-US" dirty="0" err="1"/>
              <a:t>applications,”IEEE</a:t>
            </a:r>
            <a:r>
              <a:rPr lang="en-US" dirty="0"/>
              <a:t> Antennas and Wireless Propagation Letters, vol. 19, no. 12, pp. 2339-2343, Dec. 2020.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470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C2D005-6E61-4FAE-8DDF-C379D139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3812" y="6308723"/>
            <a:ext cx="9601200" cy="549277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98A8E-65AB-4691-A605-A32A5706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AC42D-5EB6-4A4F-9313-D8FC80B56E6C}"/>
              </a:ext>
            </a:extLst>
          </p:cNvPr>
          <p:cNvSpPr txBox="1"/>
          <p:nvPr/>
        </p:nvSpPr>
        <p:spPr>
          <a:xfrm>
            <a:off x="3048757" y="0"/>
            <a:ext cx="6091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B4301-295C-4558-B626-01181DACC835}"/>
              </a:ext>
            </a:extLst>
          </p:cNvPr>
          <p:cNvSpPr txBox="1"/>
          <p:nvPr/>
        </p:nvSpPr>
        <p:spPr>
          <a:xfrm>
            <a:off x="341312" y="457200"/>
            <a:ext cx="11506200" cy="548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[16] C. Han, G. Huang, T. Yuan, and C. Sim, “A Dual-Band Millimeter-Wave Antenna for 5G Mobile Applications,” Proceedings of the IEEE International Symposium on Antennas and Propagation and USNC-URSI Radio Science Meeting, 2019.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[17] J. L. Li, M. H. Luo, and H. Liu, “Design of a slot antenna for future 5G wireless communication </a:t>
            </a:r>
            <a:r>
              <a:rPr lang="en-US" dirty="0" err="1"/>
              <a:t>systems,”Proceedings</a:t>
            </a:r>
            <a:r>
              <a:rPr lang="en-US" dirty="0"/>
              <a:t> of the Progress In Electromagnetics Research Symposium 2017,pp. 739-741.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[18] L.C. Paul and M.M. </a:t>
            </a:r>
            <a:r>
              <a:rPr lang="en-US" dirty="0" err="1"/>
              <a:t>Alam</a:t>
            </a:r>
            <a:r>
              <a:rPr lang="en-US" dirty="0"/>
              <a:t>, “Millimeter-wave hexagonal grid microstrip array antenna for 5G communication,” Proceedings of the 3rd International Conference on Electrical Information and Communication Technology 2017, pp. 1-6.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[19] R. Azim et al., “A </a:t>
            </a:r>
            <a:r>
              <a:rPr lang="en-US" dirty="0" err="1"/>
              <a:t>multislotted</a:t>
            </a:r>
            <a:r>
              <a:rPr lang="en-US" dirty="0"/>
              <a:t> antenna for LTE/5G Sub-6 GHz wireless communication applications,” Int’l Journal of Microwave and Wireless Technologies, vol. 13, no. 5, pp.486– 496, 2021.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[20] </a:t>
            </a:r>
            <a:r>
              <a:rPr lang="en-US" dirty="0" err="1"/>
              <a:t>R.Azim</a:t>
            </a:r>
            <a:r>
              <a:rPr lang="en-US" dirty="0"/>
              <a:t>, R. </a:t>
            </a:r>
            <a:r>
              <a:rPr lang="en-US" dirty="0" err="1"/>
              <a:t>Aktar</a:t>
            </a:r>
            <a:r>
              <a:rPr lang="en-US" dirty="0"/>
              <a:t>, A. K. M.M.H. Siddique, L. C. Paul and M.T. Islam, “Circular patch planar ultra-wideband antenna for 5G sub-6 GHz wireless communication applications,” Journal of Optoelectronics and Advanced Materials, vol. 23, no. 3-4, pp. 127-133, 2021.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[21] J. Kulkarni and C. Y. D. Sim, "Wideband CPW-Fed Oval-Shaped Monopole Antenna for Wi-Fi5 and Wi-Fi6 Applications," Progress In Electromagnetics Research C, vol. 107, pp. 173-182, 2021.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[22] M. </a:t>
            </a:r>
            <a:r>
              <a:rPr lang="en-US" dirty="0" err="1"/>
              <a:t>Rezvani</a:t>
            </a:r>
            <a:r>
              <a:rPr lang="en-US" dirty="0"/>
              <a:t>; L </a:t>
            </a:r>
            <a:r>
              <a:rPr lang="en-US" dirty="0" err="1"/>
              <a:t>Asadpor</a:t>
            </a:r>
            <a:r>
              <a:rPr lang="en-US" dirty="0"/>
              <a:t>; R. </a:t>
            </a:r>
            <a:r>
              <a:rPr lang="en-US" dirty="0" err="1"/>
              <a:t>Vahedpour</a:t>
            </a:r>
            <a:r>
              <a:rPr lang="en-US" dirty="0"/>
              <a:t>, "A Compact Dual-Band Microstrip Monopole Antenna for WiMAX and WLAN Applications",5th Conf. on Engineering Electromagnetics, Iran, 19-20 April, 2017, pp. 1-4.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716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C2D005-6E61-4FAE-8DDF-C379D139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3812" y="6308723"/>
            <a:ext cx="9601200" cy="549277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98A8E-65AB-4691-A605-A32A5706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AC42D-5EB6-4A4F-9313-D8FC80B56E6C}"/>
              </a:ext>
            </a:extLst>
          </p:cNvPr>
          <p:cNvSpPr txBox="1"/>
          <p:nvPr/>
        </p:nvSpPr>
        <p:spPr>
          <a:xfrm>
            <a:off x="3048757" y="-107391"/>
            <a:ext cx="6091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B4301-295C-4558-B626-01181DACC835}"/>
              </a:ext>
            </a:extLst>
          </p:cNvPr>
          <p:cNvSpPr txBox="1"/>
          <p:nvPr/>
        </p:nvSpPr>
        <p:spPr>
          <a:xfrm>
            <a:off x="341312" y="356939"/>
            <a:ext cx="11506200" cy="6126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[23] R. Azim, R. </a:t>
            </a:r>
            <a:r>
              <a:rPr lang="en-US" dirty="0" err="1"/>
              <a:t>Akter</a:t>
            </a:r>
            <a:r>
              <a:rPr lang="en-US" dirty="0"/>
              <a:t>, A.K.M.M.H. Siddique, L. C. Paul, M.T. Islam, “Circular patch planar ultra-wideband antenna for 5G sub-6 GHz wireless communication applications,” Journal of Optoelectronics and Advanced Materials, Vol. 23, no. 3-4, pp. 127-133, 2021.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[24] A. Desai, T. Upadhyaya, J. Patel, R. Patel, M. </a:t>
            </a:r>
            <a:r>
              <a:rPr lang="en-US" dirty="0" err="1"/>
              <a:t>Palandoken</a:t>
            </a:r>
            <a:r>
              <a:rPr lang="en-US" dirty="0"/>
              <a:t>, “Flexible CPW fed transparent antenna for WLAN and sub-6 GHz 5G applications,” Microwave and Optical Technology Letters, vol 62, no. 12, pp. 1-14, 2020.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[25] A. Kapoor, R. Mishra and P. Kumar, "Compact wideband-printed antenna for sub-6 GHz fifth-generation applications", Int. Journal on Smart Sensing and Intelligent Systems, vol 13, no 1, pp. 1-10, 2020.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[26] R. Azim, T. </a:t>
            </a:r>
            <a:r>
              <a:rPr lang="en-US" dirty="0" err="1"/>
              <a:t>Alam</a:t>
            </a:r>
            <a:r>
              <a:rPr lang="en-US" dirty="0"/>
              <a:t>, L. C. Paul, R. </a:t>
            </a:r>
            <a:r>
              <a:rPr lang="en-US" dirty="0" err="1"/>
              <a:t>Aktar</a:t>
            </a:r>
            <a:r>
              <a:rPr lang="en-US" dirty="0"/>
              <a:t>, A. K. M. Moinul Hoque </a:t>
            </a:r>
            <a:r>
              <a:rPr lang="en-US" dirty="0" err="1"/>
              <a:t>Meaze</a:t>
            </a:r>
            <a:r>
              <a:rPr lang="en-US" dirty="0"/>
              <a:t> and M. T. Islam, "Low Profile Multi-slotted Patch Antenna for Lower 5G Application,” IEEE Region 10 Symposium, 2020, pp. 366-369.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[27] </a:t>
            </a:r>
            <a:r>
              <a:rPr lang="en-US" dirty="0" err="1"/>
              <a:t>R.Azim</a:t>
            </a:r>
            <a:r>
              <a:rPr lang="en-US" dirty="0"/>
              <a:t>, R. </a:t>
            </a:r>
            <a:r>
              <a:rPr lang="en-US" dirty="0" err="1"/>
              <a:t>Aktar</a:t>
            </a:r>
            <a:r>
              <a:rPr lang="en-US" dirty="0"/>
              <a:t>, A. K. M.M.H. Siddique, L. C. Paul and M.T. Islam, “Circular patch planar ultra-wideband antenna for 5G sub-6 GHz wireless communication applications,” Journal of Optoelectronics and Advanced Materials, vol. 23, no. 3-4, pp. 127-133, 2021.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[28] R. Azim et al., “A </a:t>
            </a:r>
            <a:r>
              <a:rPr lang="en-US" dirty="0" err="1"/>
              <a:t>multislotted</a:t>
            </a:r>
            <a:r>
              <a:rPr lang="en-US" dirty="0"/>
              <a:t> antenna for LTE/5G Sub-6 GHz wireless communication applications,” International Journal of Microwave and Wireless Technologies, vol 13, pp. 486–496, 2020.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[29] I. </a:t>
            </a:r>
            <a:r>
              <a:rPr lang="en-US" dirty="0" err="1"/>
              <a:t>Ishteyaq</a:t>
            </a:r>
            <a:r>
              <a:rPr lang="en-US" dirty="0"/>
              <a:t>, I. S. </a:t>
            </a:r>
            <a:r>
              <a:rPr lang="en-US" dirty="0" err="1"/>
              <a:t>Masoodi</a:t>
            </a:r>
            <a:r>
              <a:rPr lang="en-US" dirty="0"/>
              <a:t> and K. Muzaffar, “A compact double-band planar printed slot antenna for sub-6 GHz 5G wireless applications,” Int. Journal of Microwave and Wireless Technologies, vol 13, no 5, pp. 469 - 477, 2020. 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en-US" dirty="0"/>
              <a:t>[30] M. M. Hasan, Z. Rahman, R. Shaikh, I. </a:t>
            </a:r>
            <a:r>
              <a:rPr lang="en-US" dirty="0" err="1"/>
              <a:t>Alam</a:t>
            </a:r>
            <a:r>
              <a:rPr lang="en-US" dirty="0"/>
              <a:t>, M. A. Islam and M. S. </a:t>
            </a:r>
            <a:r>
              <a:rPr lang="en-US" dirty="0" err="1"/>
              <a:t>Alam</a:t>
            </a:r>
            <a:r>
              <a:rPr lang="en-US" dirty="0"/>
              <a:t>, "Design and Analysis of Elliptical Microstrip Patch Antenna at 3.5 GHz for 5G Applications,“ IEEE TENSYMP, 2020, pp. 981-984, </a:t>
            </a:r>
            <a:r>
              <a:rPr lang="en-US" dirty="0" err="1"/>
              <a:t>doi</a:t>
            </a:r>
            <a:r>
              <a:rPr lang="en-US" dirty="0"/>
              <a:t>: 10.1109/TENSYMP50017.2020.9230897.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54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172200"/>
            <a:ext cx="12188825" cy="6858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5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Pabna University of Science and Technology, </a:t>
            </a:r>
            <a:r>
              <a:rPr kumimoji="0" lang="en-US" sz="1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Pabna-6600, Bangladesh.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BDF8-8300-4086-A4D1-E9D9DF2D84C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7987" y="953869"/>
            <a:ext cx="7614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 </a:t>
            </a:r>
          </a:p>
        </p:txBody>
      </p:sp>
      <p:pic>
        <p:nvPicPr>
          <p:cNvPr id="5" name="Picture 2" descr="C:\Users\hp\Desktop\smile-sign-d-people-man-person-3681858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4212" y="1905001"/>
            <a:ext cx="2987361" cy="23622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159092" y="4713027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suggestion?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4043</TotalTime>
  <Words>4566</Words>
  <Application>Microsoft Office PowerPoint</Application>
  <PresentationFormat>Custom</PresentationFormat>
  <Paragraphs>747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Liberation Serif</vt:lpstr>
      <vt:lpstr>Tahoma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Sajeeb Chandra Das</cp:lastModifiedBy>
  <cp:revision>280</cp:revision>
  <dcterms:created xsi:type="dcterms:W3CDTF">2019-11-21T15:00:00Z</dcterms:created>
  <dcterms:modified xsi:type="dcterms:W3CDTF">2022-04-23T21:33:37Z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